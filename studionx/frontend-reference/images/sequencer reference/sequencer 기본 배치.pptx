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7" r:id="rId2"/>
    <p:sldId id="259" r:id="rId3"/>
    <p:sldId id="256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40" d="100"/>
          <a:sy n="14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281636" y="242579"/>
            <a:ext cx="1648129" cy="36511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전반적인 배치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18689" y="607695"/>
            <a:ext cx="11354622" cy="6076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7214" y="655662"/>
            <a:ext cx="11210718" cy="441882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 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7214" y="655662"/>
            <a:ext cx="11217604" cy="441882"/>
          </a:xfrm>
          <a:prstGeom prst="rect">
            <a:avLst/>
          </a:prstGeom>
        </p:spPr>
      </p:pic>
      <p:cxnSp>
        <p:nvCxnSpPr>
          <p:cNvPr id="8" name="화살표 7"/>
          <p:cNvCxnSpPr>
            <a:stCxn id="7" idx="0"/>
          </p:cNvCxnSpPr>
          <p:nvPr/>
        </p:nvCxnSpPr>
        <p:spPr>
          <a:xfrm rot="5400000" flipH="1" flipV="1">
            <a:off x="6010269" y="458805"/>
            <a:ext cx="282599" cy="11111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가로 글상자 8"/>
          <p:cNvSpPr txBox="1"/>
          <p:nvPr/>
        </p:nvSpPr>
        <p:spPr>
          <a:xfrm>
            <a:off x="6337949" y="149245"/>
            <a:ext cx="3211816" cy="28700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ableton 60 : fl 40 </a:t>
            </a:r>
            <a:r>
              <a:rPr lang="ko-KR" altLang="en-US" sz="1300"/>
              <a:t>의 헤더의 디자인 준용</a:t>
            </a:r>
            <a:endParaRPr lang="ko-KR" altLang="en-US" sz="1300"/>
          </a:p>
        </p:txBody>
      </p:sp>
      <p:sp>
        <p:nvSpPr>
          <p:cNvPr id="13" name="직사각형 12"/>
          <p:cNvSpPr/>
          <p:nvPr/>
        </p:nvSpPr>
        <p:spPr>
          <a:xfrm>
            <a:off x="950503" y="1221712"/>
            <a:ext cx="2575747" cy="32266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파일 관련 크게 </a:t>
            </a:r>
            <a:r>
              <a:rPr lang="en-US" altLang="ko-KR" sz="1500">
                <a:solidFill>
                  <a:schemeClr val="tx1"/>
                </a:solidFill>
              </a:rPr>
              <a:t>5</a:t>
            </a:r>
            <a:r>
              <a:rPr lang="ko-KR" altLang="en-US" sz="1500">
                <a:solidFill>
                  <a:schemeClr val="tx1"/>
                </a:solidFill>
              </a:rPr>
              <a:t>개로 분류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1)</a:t>
            </a:r>
            <a:r>
              <a:rPr lang="ko-KR" altLang="en-US" sz="1500">
                <a:solidFill>
                  <a:schemeClr val="tx1"/>
                </a:solidFill>
              </a:rPr>
              <a:t> 샘플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2)</a:t>
            </a:r>
            <a:r>
              <a:rPr lang="ko-KR" altLang="en-US" sz="1500">
                <a:solidFill>
                  <a:schemeClr val="tx1"/>
                </a:solidFill>
              </a:rPr>
              <a:t> 신스 프리셋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3)</a:t>
            </a:r>
            <a:r>
              <a:rPr lang="ko-KR" altLang="en-US" sz="1500">
                <a:solidFill>
                  <a:schemeClr val="tx1"/>
                </a:solidFill>
              </a:rPr>
              <a:t> 플러그인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4)</a:t>
            </a:r>
            <a:r>
              <a:rPr lang="ko-KR" altLang="en-US" sz="1500">
                <a:solidFill>
                  <a:schemeClr val="tx1"/>
                </a:solidFill>
              </a:rPr>
              <a:t> 패턴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5)</a:t>
            </a:r>
            <a:r>
              <a:rPr lang="ko-KR" altLang="en-US" sz="1500">
                <a:solidFill>
                  <a:schemeClr val="tx1"/>
                </a:solidFill>
              </a:rPr>
              <a:t> 오토메이션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&lt;</a:t>
            </a:r>
            <a:r>
              <a:rPr lang="ko-KR" altLang="en-US" sz="1500">
                <a:solidFill>
                  <a:schemeClr val="tx1"/>
                </a:solidFill>
              </a:rPr>
              <a:t>기타 내가 챙기지 못한 건 </a:t>
            </a:r>
            <a:r>
              <a:rPr lang="en-US" altLang="ko-KR" sz="1500">
                <a:solidFill>
                  <a:schemeClr val="tx1"/>
                </a:solidFill>
              </a:rPr>
              <a:t>AI</a:t>
            </a:r>
            <a:r>
              <a:rPr lang="ko-KR" altLang="en-US" sz="1500">
                <a:solidFill>
                  <a:schemeClr val="tx1"/>
                </a:solidFill>
              </a:rPr>
              <a:t>가 정리해줄 것</a:t>
            </a:r>
            <a:r>
              <a:rPr lang="en-US" altLang="ko-KR" sz="1500">
                <a:solidFill>
                  <a:schemeClr val="tx1"/>
                </a:solidFill>
              </a:rPr>
              <a:t>&gt;</a:t>
            </a:r>
            <a:endParaRPr lang="en-US" altLang="ko-KR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검색창은 맨 아래에</a:t>
            </a:r>
            <a:r>
              <a:rPr lang="en-US" altLang="ko-KR" sz="1500">
                <a:solidFill>
                  <a:schemeClr val="tx1"/>
                </a:solidFill>
              </a:rPr>
              <a:t>.</a:t>
            </a:r>
            <a:endParaRPr lang="en-US" altLang="ko-KR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추가는 드래그인 </a:t>
            </a:r>
            <a:r>
              <a:rPr lang="en-US" altLang="ko-KR" sz="1500">
                <a:solidFill>
                  <a:schemeClr val="tx1"/>
                </a:solidFill>
              </a:rPr>
              <a:t>or</a:t>
            </a:r>
            <a:r>
              <a:rPr lang="ko-KR" altLang="en-US" sz="1500">
                <a:solidFill>
                  <a:schemeClr val="tx1"/>
                </a:solidFill>
              </a:rPr>
              <a:t> 파일 업로드 버튼을 통해 업로드하도록 한다</a:t>
            </a:r>
            <a:r>
              <a:rPr lang="en-US" altLang="ko-KR" sz="1500">
                <a:solidFill>
                  <a:schemeClr val="tx1"/>
                </a:solidFill>
              </a:rPr>
              <a:t>(</a:t>
            </a:r>
            <a:r>
              <a:rPr lang="ko-KR" altLang="en-US" sz="1500">
                <a:solidFill>
                  <a:schemeClr val="tx1"/>
                </a:solidFill>
              </a:rPr>
              <a:t>샘플 및 </a:t>
            </a:r>
            <a:r>
              <a:rPr lang="en-US" altLang="ko-KR" sz="1500">
                <a:solidFill>
                  <a:schemeClr val="tx1"/>
                </a:solidFill>
              </a:rPr>
              <a:t>midi</a:t>
            </a:r>
            <a:r>
              <a:rPr lang="ko-KR" altLang="en-US" sz="1500">
                <a:solidFill>
                  <a:schemeClr val="tx1"/>
                </a:solidFill>
              </a:rPr>
              <a:t> 파일</a:t>
            </a:r>
            <a:r>
              <a:rPr lang="en-US" altLang="ko-KR" sz="1500">
                <a:solidFill>
                  <a:schemeClr val="tx1"/>
                </a:solidFill>
              </a:rPr>
              <a:t>).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50503" y="4572568"/>
            <a:ext cx="2575747" cy="1996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협업 관련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-</a:t>
            </a:r>
            <a:r>
              <a:rPr lang="ko-KR" altLang="en-US" sz="1500">
                <a:solidFill>
                  <a:schemeClr val="tx1"/>
                </a:solidFill>
              </a:rPr>
              <a:t> 평소엔 없는데</a:t>
            </a:r>
            <a:r>
              <a:rPr lang="en-US" altLang="ko-KR" sz="1500">
                <a:solidFill>
                  <a:schemeClr val="tx1"/>
                </a:solidFill>
              </a:rPr>
              <a:t>,</a:t>
            </a:r>
            <a:r>
              <a:rPr lang="ko-KR" altLang="en-US" sz="1500">
                <a:solidFill>
                  <a:schemeClr val="tx1"/>
                </a:solidFill>
              </a:rPr>
              <a:t> 왼쪽 관련 버튼을 클릭하면 나타남</a:t>
            </a:r>
            <a:r>
              <a:rPr lang="en-US" altLang="ko-KR" sz="1500">
                <a:solidFill>
                  <a:schemeClr val="tx1"/>
                </a:solidFill>
              </a:rPr>
              <a:t>.</a:t>
            </a:r>
            <a:endParaRPr lang="en-US" altLang="ko-KR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1)</a:t>
            </a:r>
            <a:r>
              <a:rPr lang="ko-KR" altLang="en-US" sz="1500">
                <a:solidFill>
                  <a:schemeClr val="tx1"/>
                </a:solidFill>
              </a:rPr>
              <a:t> 협업하는 사람 리스트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2)</a:t>
            </a:r>
            <a:r>
              <a:rPr lang="ko-KR" altLang="en-US" sz="1500">
                <a:solidFill>
                  <a:schemeClr val="tx1"/>
                </a:solidFill>
              </a:rPr>
              <a:t> 채팅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두 기능은 각각의 버튼을 통해 접속 가능</a:t>
            </a:r>
            <a:endParaRPr lang="ko-KR" altLang="en-US" sz="150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29815" y="1221711"/>
            <a:ext cx="305622" cy="5347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6" name="화살표 15"/>
          <p:cNvCxnSpPr>
            <a:stCxn id="15" idx="0"/>
            <a:endCxn id="17" idx="1"/>
          </p:cNvCxnSpPr>
          <p:nvPr/>
        </p:nvCxnSpPr>
        <p:spPr>
          <a:xfrm flipV="1">
            <a:off x="682626" y="387995"/>
            <a:ext cx="1377961" cy="8337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가로 글상자 16"/>
          <p:cNvSpPr txBox="1"/>
          <p:nvPr/>
        </p:nvSpPr>
        <p:spPr>
          <a:xfrm>
            <a:off x="2060587" y="244495"/>
            <a:ext cx="3211816" cy="28700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버튼 </a:t>
            </a:r>
            <a:r>
              <a:rPr lang="en-US" altLang="ko-KR" sz="1300"/>
              <a:t>:</a:t>
            </a:r>
            <a:r>
              <a:rPr lang="ko-KR" altLang="en-US" sz="1300"/>
              <a:t> 파일 관련 분류 버튼</a:t>
            </a:r>
            <a:r>
              <a:rPr lang="en-US" altLang="ko-KR" sz="1300"/>
              <a:t>,</a:t>
            </a:r>
            <a:r>
              <a:rPr lang="ko-KR" altLang="en-US" sz="1300"/>
              <a:t> 협업 버튼</a:t>
            </a:r>
            <a:endParaRPr lang="ko-KR" altLang="en-US" sz="1300"/>
          </a:p>
        </p:txBody>
      </p:sp>
      <p:sp>
        <p:nvSpPr>
          <p:cNvPr id="18" name="직사각형 17"/>
          <p:cNvSpPr/>
          <p:nvPr/>
        </p:nvSpPr>
        <p:spPr>
          <a:xfrm>
            <a:off x="3641316" y="1221712"/>
            <a:ext cx="8056616" cy="32266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 sz="1500">
              <a:solidFill>
                <a:schemeClr val="tx1"/>
              </a:solidFill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41315" y="1221711"/>
            <a:ext cx="8068591" cy="3226688"/>
          </a:xfrm>
          <a:prstGeom prst="rect">
            <a:avLst/>
          </a:prstGeom>
        </p:spPr>
      </p:pic>
      <p:cxnSp>
        <p:nvCxnSpPr>
          <p:cNvPr id="20" name="화살표 19"/>
          <p:cNvCxnSpPr>
            <a:stCxn id="19" idx="2"/>
            <a:endCxn id="21" idx="2"/>
          </p:cNvCxnSpPr>
          <p:nvPr/>
        </p:nvCxnSpPr>
        <p:spPr>
          <a:xfrm rot="16200000" flipV="1">
            <a:off x="7502848" y="4275637"/>
            <a:ext cx="259305" cy="8622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가로 글상자 20"/>
          <p:cNvSpPr txBox="1"/>
          <p:nvPr/>
        </p:nvSpPr>
        <p:spPr>
          <a:xfrm>
            <a:off x="4367634" y="2118198"/>
            <a:ext cx="6443512" cy="2070897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ableton 50 : fl 50 </a:t>
            </a:r>
            <a:r>
              <a:rPr lang="ko-KR" altLang="en-US" sz="1300"/>
              <a:t>의 트랙 디자인 준용하되 해당 디자인의 선을 제거하고 아래의 방식으로 오토메이션 설정 화면을 변경한다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오토메이션모드</a:t>
            </a:r>
            <a:r>
              <a:rPr lang="en-US" altLang="ko-KR" sz="1300"/>
              <a:t>(ableton</a:t>
            </a:r>
            <a:r>
              <a:rPr lang="ko-KR" altLang="en-US" sz="1300"/>
              <a:t>의 경우는 키보드 </a:t>
            </a:r>
            <a:r>
              <a:rPr lang="en-US" altLang="ko-KR" sz="1300"/>
              <a:t>a</a:t>
            </a:r>
            <a:r>
              <a:rPr lang="ko-KR" altLang="en-US" sz="1300"/>
              <a:t> 치면 나옴</a:t>
            </a:r>
            <a:r>
              <a:rPr lang="en-US" altLang="ko-KR" sz="1300"/>
              <a:t>)</a:t>
            </a:r>
            <a:r>
              <a:rPr lang="ko-KR" altLang="en-US" sz="1300"/>
              <a:t>를 클릭하면 패턴은 투명도를 </a:t>
            </a:r>
            <a:r>
              <a:rPr lang="en-US" altLang="ko-KR" sz="1300"/>
              <a:t>70~80%</a:t>
            </a:r>
            <a:r>
              <a:rPr lang="ko-KR" altLang="en-US" sz="1300"/>
              <a:t>로 올리고</a:t>
            </a:r>
            <a:r>
              <a:rPr lang="en-US" altLang="ko-KR" sz="1300"/>
              <a:t>,</a:t>
            </a:r>
            <a:r>
              <a:rPr lang="ko-KR" altLang="en-US" sz="1300"/>
              <a:t> 그 위에 오토메이션 버튼을 통해 오토메이션을 적용</a:t>
            </a:r>
            <a:r>
              <a:rPr lang="en-US" altLang="ko-KR" sz="1300"/>
              <a:t>(fl)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오토메이션 재사용의 경우는 오토메이션 배치가 어느 패턴의 영역에 있는지에 따라 적용 대상이 달라짐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트랙 각각의 디자인은 다음 슬라이드 참조</a:t>
            </a:r>
            <a:endParaRPr lang="ko-KR" altLang="en-US" sz="1300"/>
          </a:p>
        </p:txBody>
      </p:sp>
      <p:sp>
        <p:nvSpPr>
          <p:cNvPr id="22" name="직사각형 21"/>
          <p:cNvSpPr/>
          <p:nvPr/>
        </p:nvSpPr>
        <p:spPr>
          <a:xfrm>
            <a:off x="3641316" y="4572567"/>
            <a:ext cx="8056616" cy="1996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평시 </a:t>
            </a:r>
            <a:r>
              <a:rPr lang="en-US" altLang="ko-KR" sz="1500">
                <a:solidFill>
                  <a:schemeClr val="tx1"/>
                </a:solidFill>
              </a:rPr>
              <a:t>)</a:t>
            </a:r>
            <a:r>
              <a:rPr lang="ko-KR" altLang="en-US" sz="1500">
                <a:solidFill>
                  <a:schemeClr val="tx1"/>
                </a:solidFill>
              </a:rPr>
              <a:t> 위의 트랙 디자인이 계속됨</a:t>
            </a:r>
            <a:r>
              <a:rPr lang="en-US" altLang="ko-KR" sz="1500">
                <a:solidFill>
                  <a:schemeClr val="tx1"/>
                </a:solidFill>
              </a:rPr>
              <a:t>.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미디 패턴을 클릭할 때 </a:t>
            </a:r>
            <a:r>
              <a:rPr lang="en-US" altLang="ko-KR" sz="1500">
                <a:solidFill>
                  <a:schemeClr val="tx1"/>
                </a:solidFill>
              </a:rPr>
              <a:t>)</a:t>
            </a:r>
            <a:r>
              <a:rPr lang="ko-KR" altLang="en-US" sz="1500">
                <a:solidFill>
                  <a:schemeClr val="tx1"/>
                </a:solidFill>
              </a:rPr>
              <a:t> 피아노 롤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ko-KR" altLang="en-US" sz="1500">
                <a:solidFill>
                  <a:schemeClr val="tx1"/>
                </a:solidFill>
              </a:rPr>
              <a:t>샘플을 클릭할 때</a:t>
            </a:r>
            <a:r>
              <a:rPr lang="en-US" altLang="ko-KR" sz="1500">
                <a:solidFill>
                  <a:schemeClr val="tx1"/>
                </a:solidFill>
              </a:rPr>
              <a:t> )</a:t>
            </a:r>
            <a:r>
              <a:rPr lang="ko-KR" altLang="en-US" sz="1500">
                <a:solidFill>
                  <a:schemeClr val="tx1"/>
                </a:solidFill>
              </a:rPr>
              <a:t> 샘플 관련 설정</a:t>
            </a: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endParaRPr lang="ko-KR" altLang="en-US" sz="1500">
              <a:solidFill>
                <a:schemeClr val="tx1"/>
              </a:solidFill>
            </a:endParaRPr>
          </a:p>
          <a:p>
            <a:pPr lvl="0" algn="ctr">
              <a:defRPr/>
            </a:pPr>
            <a:r>
              <a:rPr lang="en-US" altLang="ko-KR" sz="1500">
                <a:solidFill>
                  <a:schemeClr val="tx1"/>
                </a:solidFill>
              </a:rPr>
              <a:t>Nyxi</a:t>
            </a:r>
            <a:r>
              <a:rPr lang="ko-KR" altLang="en-US" sz="1500">
                <a:solidFill>
                  <a:schemeClr val="tx1"/>
                </a:solidFill>
              </a:rPr>
              <a:t> 에이전트 실행 시 </a:t>
            </a:r>
            <a:r>
              <a:rPr lang="en-US" altLang="ko-KR" sz="1500">
                <a:solidFill>
                  <a:schemeClr val="tx1"/>
                </a:solidFill>
              </a:rPr>
              <a:t>)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AI Agent</a:t>
            </a:r>
            <a:r>
              <a:rPr lang="ko-KR" altLang="en-US" sz="1500">
                <a:solidFill>
                  <a:schemeClr val="tx1"/>
                </a:solidFill>
              </a:rPr>
              <a:t> 조언이 뜸</a:t>
            </a:r>
            <a:r>
              <a:rPr lang="en-US" altLang="ko-KR" sz="1500">
                <a:solidFill>
                  <a:schemeClr val="tx1"/>
                </a:solidFill>
              </a:rPr>
              <a:t>.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endParaRPr lang="ko-KR" altLang="en-US" sz="15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083817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>
            <a:off x="281635" y="242579"/>
            <a:ext cx="1226308" cy="36511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트랙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25724" b="64099"/>
          <a:stretch>
            <a:fillRect/>
          </a:stretch>
        </p:blipFill>
        <p:spPr>
          <a:xfrm>
            <a:off x="222761" y="820301"/>
            <a:ext cx="11746478" cy="47804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94789" y="820301"/>
            <a:ext cx="395859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9" name="화살표 8"/>
          <p:cNvCxnSpPr>
            <a:stCxn id="8" idx="3"/>
            <a:endCxn id="10" idx="1"/>
          </p:cNvCxnSpPr>
          <p:nvPr/>
        </p:nvCxnSpPr>
        <p:spPr>
          <a:xfrm flipV="1">
            <a:off x="1290648" y="532123"/>
            <a:ext cx="829916" cy="5272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가로 글상자 9"/>
          <p:cNvSpPr txBox="1"/>
          <p:nvPr/>
        </p:nvSpPr>
        <p:spPr>
          <a:xfrm>
            <a:off x="2120564" y="389876"/>
            <a:ext cx="4399935" cy="2844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‘V’</a:t>
            </a:r>
            <a:r>
              <a:rPr lang="ko-KR" altLang="en-US" sz="1300"/>
              <a:t> 버튼을 만든다</a:t>
            </a:r>
            <a:r>
              <a:rPr lang="en-US" altLang="ko-KR" sz="1300"/>
              <a:t>.</a:t>
            </a:r>
            <a:r>
              <a:rPr lang="ko-KR" altLang="en-US" sz="1300"/>
              <a:t> 이 버튼을 클릭하면 아래와 같이 뜬다</a:t>
            </a:r>
            <a:r>
              <a:rPr lang="en-US" altLang="ko-KR" sz="1300"/>
              <a:t>.</a:t>
            </a:r>
            <a:r>
              <a:rPr lang="ko-KR" altLang="en-US" sz="1300"/>
              <a:t> </a:t>
            </a:r>
            <a:endParaRPr lang="ko-KR" altLang="en-US" sz="1300"/>
          </a:p>
        </p:txBody>
      </p:sp>
      <p:sp>
        <p:nvSpPr>
          <p:cNvPr id="11" name="직사각형 10"/>
          <p:cNvSpPr/>
          <p:nvPr/>
        </p:nvSpPr>
        <p:spPr>
          <a:xfrm>
            <a:off x="759433" y="820301"/>
            <a:ext cx="135355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2" name="화살표 11"/>
          <p:cNvCxnSpPr>
            <a:stCxn id="11" idx="0"/>
            <a:endCxn id="15" idx="1"/>
          </p:cNvCxnSpPr>
          <p:nvPr/>
        </p:nvCxnSpPr>
        <p:spPr>
          <a:xfrm flipV="1">
            <a:off x="827111" y="243849"/>
            <a:ext cx="1293453" cy="5764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가로 글상자 14"/>
          <p:cNvSpPr txBox="1"/>
          <p:nvPr/>
        </p:nvSpPr>
        <p:spPr>
          <a:xfrm>
            <a:off x="2120565" y="99078"/>
            <a:ext cx="3211816" cy="2895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track on / off</a:t>
            </a:r>
            <a:r>
              <a:rPr lang="ko-KR" altLang="en-US" sz="1300"/>
              <a:t> 버튼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fl studio</a:t>
            </a:r>
            <a:r>
              <a:rPr lang="ko-KR" altLang="en-US" sz="1300"/>
              <a:t>를 준용함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16" name="직사각형 15"/>
          <p:cNvSpPr/>
          <p:nvPr/>
        </p:nvSpPr>
        <p:spPr>
          <a:xfrm>
            <a:off x="222761" y="1402185"/>
            <a:ext cx="11746478" cy="21087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81635" y="1467669"/>
            <a:ext cx="1566634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20" name="화살표 19"/>
          <p:cNvCxnSpPr>
            <a:stCxn id="19" idx="2"/>
          </p:cNvCxnSpPr>
          <p:nvPr/>
        </p:nvCxnSpPr>
        <p:spPr>
          <a:xfrm rot="16200000" flipH="1">
            <a:off x="915674" y="3578277"/>
            <a:ext cx="29855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가로 글상자 20"/>
          <p:cNvSpPr txBox="1"/>
          <p:nvPr/>
        </p:nvSpPr>
        <p:spPr>
          <a:xfrm>
            <a:off x="1745517" y="966826"/>
            <a:ext cx="7346732" cy="28883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트랙 기본 규칙은</a:t>
            </a:r>
            <a:r>
              <a:rPr lang="en-US" altLang="ko-KR" sz="1300"/>
              <a:t> Ableton</a:t>
            </a:r>
            <a:r>
              <a:rPr lang="ko-KR" altLang="en-US" sz="1300"/>
              <a:t>처럼 한 트랙이 하나의 </a:t>
            </a:r>
            <a:r>
              <a:rPr lang="en-US" altLang="ko-KR" sz="1300"/>
              <a:t>instrument</a:t>
            </a:r>
            <a:r>
              <a:rPr lang="ko-KR" altLang="en-US" sz="1300"/>
              <a:t>나 샘플을 관장하는 형식으로 한다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22" name="가로 글상자 21"/>
          <p:cNvSpPr txBox="1"/>
          <p:nvPr/>
        </p:nvSpPr>
        <p:spPr>
          <a:xfrm>
            <a:off x="364391" y="3727555"/>
            <a:ext cx="4399935" cy="68061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만약 해당 트랙이 </a:t>
            </a:r>
            <a:r>
              <a:rPr lang="en-US" altLang="ko-KR" sz="1300"/>
              <a:t>midi</a:t>
            </a:r>
            <a:r>
              <a:rPr lang="ko-KR" altLang="en-US" sz="1300"/>
              <a:t> 트랙이면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Add Instrument</a:t>
            </a:r>
            <a:r>
              <a:rPr lang="ko-KR" altLang="en-US" sz="1300"/>
              <a:t> 칸으로 하고</a:t>
            </a:r>
            <a:r>
              <a:rPr lang="en-US" altLang="ko-KR" sz="1300"/>
              <a:t>,</a:t>
            </a:r>
            <a:r>
              <a:rPr lang="ko-KR" altLang="en-US" sz="1300"/>
              <a:t> 드래그앤 드롭으로 신스나 가상 악기를 먼저 설정하도록 한다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23" name="직사각형 22"/>
          <p:cNvSpPr/>
          <p:nvPr/>
        </p:nvSpPr>
        <p:spPr>
          <a:xfrm>
            <a:off x="1905170" y="1470765"/>
            <a:ext cx="8080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0042746" y="1467669"/>
            <a:ext cx="1857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25" name="화살표 24"/>
          <p:cNvCxnSpPr>
            <a:endCxn id="26" idx="0"/>
          </p:cNvCxnSpPr>
          <p:nvPr/>
        </p:nvCxnSpPr>
        <p:spPr>
          <a:xfrm rot="16200000" flipH="1">
            <a:off x="5630113" y="3828746"/>
            <a:ext cx="799492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가로 글상자 25"/>
          <p:cNvSpPr txBox="1"/>
          <p:nvPr/>
        </p:nvSpPr>
        <p:spPr>
          <a:xfrm>
            <a:off x="3829891" y="4228492"/>
            <a:ext cx="4399935" cy="147580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이펙터를 넣는 공간</a:t>
            </a:r>
            <a:r>
              <a:rPr lang="en-US" altLang="ko-KR" sz="1300"/>
              <a:t>.</a:t>
            </a:r>
            <a:r>
              <a:rPr lang="ko-KR" altLang="en-US" sz="1300"/>
              <a:t> 드래그앤 드롭을 통해서 함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배치 방식에 대해서는</a:t>
            </a:r>
            <a:r>
              <a:rPr lang="en-US" altLang="ko-KR" sz="1300"/>
              <a:t> fl studio</a:t>
            </a:r>
            <a:r>
              <a:rPr lang="ko-KR" altLang="en-US" sz="1300"/>
              <a:t>의 </a:t>
            </a:r>
            <a:r>
              <a:rPr lang="en-US" altLang="ko-KR" sz="1300"/>
              <a:t>patch</a:t>
            </a:r>
            <a:r>
              <a:rPr lang="ko-KR" altLang="en-US" sz="1300"/>
              <a:t> 방식을 준용한다</a:t>
            </a:r>
            <a:r>
              <a:rPr lang="en-US" altLang="ko-KR" sz="1300"/>
              <a:t>(ableton</a:t>
            </a:r>
            <a:r>
              <a:rPr lang="ko-KR" altLang="en-US" sz="1300"/>
              <a:t>의 경우</a:t>
            </a:r>
            <a:r>
              <a:rPr lang="en-US" altLang="ko-KR" sz="1300"/>
              <a:t>,</a:t>
            </a:r>
            <a:r>
              <a:rPr lang="ko-KR" altLang="en-US" sz="1300"/>
              <a:t> 병렬 배치의 경우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instrument rack</a:t>
            </a:r>
            <a:r>
              <a:rPr lang="ko-KR" altLang="en-US" sz="1300"/>
              <a:t>을 사용하는데</a:t>
            </a:r>
            <a:r>
              <a:rPr lang="en-US" altLang="ko-KR" sz="1300"/>
              <a:t>,</a:t>
            </a:r>
            <a:r>
              <a:rPr lang="ko-KR" altLang="en-US" sz="1300"/>
              <a:t> 약간 직관적으로 이해하기 쉽지 않다</a:t>
            </a:r>
            <a:r>
              <a:rPr lang="en-US" altLang="ko-KR" sz="1300"/>
              <a:t>.)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다만 다음장과 같이 디자인한다</a:t>
            </a:r>
            <a:r>
              <a:rPr lang="en-US" altLang="ko-KR" sz="1300"/>
              <a:t>.</a:t>
            </a:r>
            <a:endParaRPr lang="en-US" altLang="ko-KR" sz="1300"/>
          </a:p>
        </p:txBody>
      </p:sp>
      <p:cxnSp>
        <p:nvCxnSpPr>
          <p:cNvPr id="27" name="화살표 26"/>
          <p:cNvCxnSpPr>
            <a:stCxn id="24" idx="2"/>
            <a:endCxn id="28" idx="0"/>
          </p:cNvCxnSpPr>
          <p:nvPr/>
        </p:nvCxnSpPr>
        <p:spPr>
          <a:xfrm rot="5400000">
            <a:off x="10456274" y="3431743"/>
            <a:ext cx="518060" cy="51257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가로 글상자 27"/>
          <p:cNvSpPr txBox="1"/>
          <p:nvPr/>
        </p:nvSpPr>
        <p:spPr>
          <a:xfrm>
            <a:off x="8948798" y="3947060"/>
            <a:ext cx="3020440" cy="285490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믹서 칸</a:t>
            </a:r>
            <a:r>
              <a:rPr lang="en-US" altLang="ko-KR" sz="1300"/>
              <a:t>..</a:t>
            </a:r>
            <a:r>
              <a:rPr lang="ko-KR" altLang="en-US" sz="1300"/>
              <a:t> </a:t>
            </a:r>
            <a:r>
              <a:rPr lang="en-US" altLang="ko-KR" sz="1300"/>
              <a:t>db meter</a:t>
            </a:r>
            <a:r>
              <a:rPr lang="ko-KR" altLang="en-US" sz="1300"/>
              <a:t>와 </a:t>
            </a:r>
            <a:r>
              <a:rPr lang="en-US" altLang="ko-KR" sz="1300"/>
              <a:t>panning, volume</a:t>
            </a:r>
            <a:r>
              <a:rPr lang="ko-KR" altLang="en-US" sz="1300"/>
              <a:t> 조절은 </a:t>
            </a:r>
            <a:r>
              <a:rPr lang="en-US" altLang="ko-KR" sz="1300"/>
              <a:t>‘</a:t>
            </a:r>
            <a:r>
              <a:rPr lang="ko-KR" altLang="en-US" sz="1300"/>
              <a:t>나</a:t>
            </a:r>
            <a:r>
              <a:rPr lang="en-US" altLang="ko-KR" sz="1300"/>
              <a:t>’</a:t>
            </a:r>
            <a:r>
              <a:rPr lang="ko-KR" altLang="en-US" sz="1300"/>
              <a:t> 사각형에 배치시킴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en-US" altLang="ko-KR" sz="1300"/>
              <a:t>‘</a:t>
            </a:r>
            <a:r>
              <a:rPr lang="ko-KR" altLang="en-US" sz="1300"/>
              <a:t>가</a:t>
            </a:r>
            <a:r>
              <a:rPr lang="en-US" altLang="ko-KR" sz="1300"/>
              <a:t>’</a:t>
            </a:r>
            <a:r>
              <a:rPr lang="ko-KR" altLang="en-US" sz="1300"/>
              <a:t> 사각형은 </a:t>
            </a:r>
            <a:r>
              <a:rPr lang="en-US" altLang="ko-KR" sz="1300"/>
              <a:t>sidechain trigger</a:t>
            </a:r>
            <a:r>
              <a:rPr lang="ko-KR" altLang="en-US" sz="1300"/>
              <a:t>나 다른 트랙의 이펙터에 추가로 </a:t>
            </a:r>
            <a:r>
              <a:rPr lang="en-US" altLang="ko-KR" sz="1300"/>
              <a:t>trigger</a:t>
            </a:r>
            <a:r>
              <a:rPr lang="ko-KR" altLang="en-US" sz="1300"/>
              <a:t>로 역할을 해야 할 때</a:t>
            </a:r>
            <a:r>
              <a:rPr lang="en-US" altLang="ko-KR" sz="1300"/>
              <a:t>(Ex. colour</a:t>
            </a:r>
            <a:r>
              <a:rPr lang="ko-KR" altLang="en-US" sz="1300"/>
              <a:t> 사운드 만들 때 </a:t>
            </a:r>
            <a:r>
              <a:rPr lang="en-US" altLang="ko-KR" sz="1300"/>
              <a:t>modulator</a:t>
            </a:r>
            <a:r>
              <a:rPr lang="ko-KR" altLang="en-US" sz="1300"/>
              <a:t>에 </a:t>
            </a:r>
            <a:r>
              <a:rPr lang="en-US" altLang="ko-KR" sz="1300"/>
              <a:t>resonator</a:t>
            </a:r>
            <a:r>
              <a:rPr lang="ko-KR" altLang="en-US" sz="1300"/>
              <a:t> 등의 이펙트에서 </a:t>
            </a:r>
            <a:r>
              <a:rPr lang="en-US" altLang="ko-KR" sz="1300"/>
              <a:t>Carrier,</a:t>
            </a:r>
            <a:r>
              <a:rPr lang="ko-KR" altLang="en-US" sz="1300"/>
              <a:t> </a:t>
            </a:r>
            <a:r>
              <a:rPr lang="en-US" altLang="ko-KR" sz="1300"/>
              <a:t>sidechain</a:t>
            </a:r>
            <a:r>
              <a:rPr lang="ko-KR" altLang="en-US" sz="1300"/>
              <a:t>의 트리거</a:t>
            </a:r>
            <a:r>
              <a:rPr lang="en-US" altLang="ko-KR" sz="1300"/>
              <a:t>, MIDI</a:t>
            </a:r>
            <a:r>
              <a:rPr lang="ko-KR" altLang="en-US" sz="1300"/>
              <a:t> </a:t>
            </a:r>
            <a:r>
              <a:rPr lang="en-US" altLang="ko-KR" sz="1300"/>
              <a:t>input</a:t>
            </a:r>
            <a:r>
              <a:rPr lang="ko-KR" altLang="en-US" sz="1300"/>
              <a:t> 등</a:t>
            </a:r>
            <a:r>
              <a:rPr lang="en-US" altLang="ko-KR" sz="1300"/>
              <a:t>..)</a:t>
            </a:r>
            <a:r>
              <a:rPr lang="ko-KR" altLang="en-US" sz="1300"/>
              <a:t> 이를 설정하는 곳으로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‘</a:t>
            </a:r>
            <a:r>
              <a:rPr lang="ko-KR" altLang="en-US" sz="1300"/>
              <a:t>가</a:t>
            </a:r>
            <a:r>
              <a:rPr lang="en-US" altLang="ko-KR" sz="1300"/>
              <a:t>’</a:t>
            </a:r>
            <a:r>
              <a:rPr lang="ko-KR" altLang="en-US" sz="1300"/>
              <a:t> 사각형에 </a:t>
            </a:r>
            <a:r>
              <a:rPr lang="en-US" altLang="ko-KR" sz="1300"/>
              <a:t>None</a:t>
            </a:r>
            <a:r>
              <a:rPr lang="ko-KR" altLang="en-US" sz="1300"/>
              <a:t>이 아닌 설정이 클릭되어 다른 트랙으로 </a:t>
            </a:r>
            <a:r>
              <a:rPr lang="en-US" altLang="ko-KR" sz="1300"/>
              <a:t>connect</a:t>
            </a:r>
            <a:r>
              <a:rPr lang="ko-KR" altLang="en-US" sz="1300"/>
              <a:t>되면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‘</a:t>
            </a:r>
            <a:r>
              <a:rPr lang="ko-KR" altLang="en-US" sz="1300"/>
              <a:t>나</a:t>
            </a:r>
            <a:r>
              <a:rPr lang="en-US" altLang="ko-KR" sz="1300"/>
              <a:t>’</a:t>
            </a:r>
            <a:r>
              <a:rPr lang="ko-KR" altLang="en-US" sz="1300"/>
              <a:t>는 비활성화된다</a:t>
            </a:r>
            <a:r>
              <a:rPr lang="en-US" altLang="ko-KR" sz="1300"/>
              <a:t>(</a:t>
            </a:r>
            <a:r>
              <a:rPr lang="ko-KR" altLang="en-US" sz="1300"/>
              <a:t>다만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sidechain</a:t>
            </a:r>
            <a:r>
              <a:rPr lang="ko-KR" altLang="en-US" sz="1300"/>
              <a:t>은 비활성화 상황 </a:t>
            </a:r>
            <a:r>
              <a:rPr lang="en-US" altLang="ko-KR" sz="1300"/>
              <a:t>X - </a:t>
            </a:r>
            <a:r>
              <a:rPr lang="ko-KR" altLang="en-US" sz="1300"/>
              <a:t>그외 비슷한 상황이 생길 가능성을 염두해두고</a:t>
            </a:r>
            <a:r>
              <a:rPr lang="en-US" altLang="ko-KR" sz="1300"/>
              <a:t>,</a:t>
            </a:r>
            <a:r>
              <a:rPr lang="ko-KR" altLang="en-US" sz="1300"/>
              <a:t> 비활성화 여부를 정해줄 것</a:t>
            </a:r>
            <a:r>
              <a:rPr lang="en-US" altLang="ko-KR" sz="1300"/>
              <a:t>)</a:t>
            </a:r>
            <a:endParaRPr lang="en-US" altLang="ko-KR" sz="1300"/>
          </a:p>
        </p:txBody>
      </p:sp>
      <p:sp>
        <p:nvSpPr>
          <p:cNvPr id="29" name="직사각형 28"/>
          <p:cNvSpPr/>
          <p:nvPr/>
        </p:nvSpPr>
        <p:spPr>
          <a:xfrm>
            <a:off x="10149902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1037068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나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50977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>
            <a:off x="281635" y="242579"/>
            <a:ext cx="1226308" cy="36511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트랙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25724" b="64099"/>
          <a:stretch>
            <a:fillRect/>
          </a:stretch>
        </p:blipFill>
        <p:spPr>
          <a:xfrm>
            <a:off x="222761" y="820301"/>
            <a:ext cx="11746478" cy="47804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94789" y="820301"/>
            <a:ext cx="395859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9" name="화살표 8"/>
          <p:cNvCxnSpPr>
            <a:stCxn id="8" idx="3"/>
            <a:endCxn id="10" idx="1"/>
          </p:cNvCxnSpPr>
          <p:nvPr/>
        </p:nvCxnSpPr>
        <p:spPr>
          <a:xfrm flipV="1">
            <a:off x="1290648" y="532123"/>
            <a:ext cx="829916" cy="5272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가로 글상자 9"/>
          <p:cNvSpPr txBox="1"/>
          <p:nvPr/>
        </p:nvSpPr>
        <p:spPr>
          <a:xfrm>
            <a:off x="2120564" y="389876"/>
            <a:ext cx="4399935" cy="2844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‘V’</a:t>
            </a:r>
            <a:r>
              <a:rPr lang="ko-KR" altLang="en-US" sz="1300"/>
              <a:t> 버튼을 만든다</a:t>
            </a:r>
            <a:r>
              <a:rPr lang="en-US" altLang="ko-KR" sz="1300"/>
              <a:t>.</a:t>
            </a:r>
            <a:r>
              <a:rPr lang="ko-KR" altLang="en-US" sz="1300"/>
              <a:t> 이 버튼을 클릭하면 아래와 같이 뜬다</a:t>
            </a:r>
            <a:r>
              <a:rPr lang="en-US" altLang="ko-KR" sz="1300"/>
              <a:t>.</a:t>
            </a:r>
            <a:r>
              <a:rPr lang="ko-KR" altLang="en-US" sz="1300"/>
              <a:t> </a:t>
            </a:r>
            <a:endParaRPr lang="ko-KR" altLang="en-US" sz="1300"/>
          </a:p>
        </p:txBody>
      </p:sp>
      <p:sp>
        <p:nvSpPr>
          <p:cNvPr id="11" name="직사각형 10"/>
          <p:cNvSpPr/>
          <p:nvPr/>
        </p:nvSpPr>
        <p:spPr>
          <a:xfrm>
            <a:off x="759433" y="820301"/>
            <a:ext cx="135355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2" name="화살표 11"/>
          <p:cNvCxnSpPr>
            <a:stCxn id="11" idx="0"/>
            <a:endCxn id="15" idx="1"/>
          </p:cNvCxnSpPr>
          <p:nvPr/>
        </p:nvCxnSpPr>
        <p:spPr>
          <a:xfrm flipV="1">
            <a:off x="827111" y="243849"/>
            <a:ext cx="1293453" cy="5764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가로 글상자 14"/>
          <p:cNvSpPr txBox="1"/>
          <p:nvPr/>
        </p:nvSpPr>
        <p:spPr>
          <a:xfrm>
            <a:off x="2120565" y="99078"/>
            <a:ext cx="3211816" cy="2895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track on / off</a:t>
            </a:r>
            <a:r>
              <a:rPr lang="ko-KR" altLang="en-US" sz="1300"/>
              <a:t> 버튼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fl studio</a:t>
            </a:r>
            <a:r>
              <a:rPr lang="ko-KR" altLang="en-US" sz="1300"/>
              <a:t>를 준용함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16" name="직사각형 15"/>
          <p:cNvSpPr/>
          <p:nvPr/>
        </p:nvSpPr>
        <p:spPr>
          <a:xfrm>
            <a:off x="222761" y="1402185"/>
            <a:ext cx="11746478" cy="21087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81635" y="1467669"/>
            <a:ext cx="1566634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가로 글상자 20"/>
          <p:cNvSpPr txBox="1"/>
          <p:nvPr/>
        </p:nvSpPr>
        <p:spPr>
          <a:xfrm>
            <a:off x="1745517" y="966826"/>
            <a:ext cx="7346732" cy="28883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트랙 기본 규칙은</a:t>
            </a:r>
            <a:r>
              <a:rPr lang="en-US" altLang="ko-KR" sz="1300"/>
              <a:t> Ableton</a:t>
            </a:r>
            <a:r>
              <a:rPr lang="ko-KR" altLang="en-US" sz="1300"/>
              <a:t>처럼 한 트랙이 하나의 </a:t>
            </a:r>
            <a:r>
              <a:rPr lang="en-US" altLang="ko-KR" sz="1300"/>
              <a:t>instrument</a:t>
            </a:r>
            <a:r>
              <a:rPr lang="ko-KR" altLang="en-US" sz="1300"/>
              <a:t>나 샘플을 관장하는 형식으로 한다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23" name="직사각형 22"/>
          <p:cNvSpPr/>
          <p:nvPr/>
        </p:nvSpPr>
        <p:spPr>
          <a:xfrm>
            <a:off x="1905170" y="1470765"/>
            <a:ext cx="8080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0042746" y="1467669"/>
            <a:ext cx="1857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25" name="화살표 24"/>
          <p:cNvCxnSpPr/>
          <p:nvPr/>
        </p:nvCxnSpPr>
        <p:spPr>
          <a:xfrm rot="10800000" flipV="1">
            <a:off x="4196953" y="3429000"/>
            <a:ext cx="1832907" cy="3575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10149902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1037068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22761" y="3786531"/>
            <a:ext cx="8080675" cy="2241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281635" y="3869875"/>
            <a:ext cx="1663207" cy="1794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effect 1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063266" y="3869875"/>
            <a:ext cx="383285" cy="1794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+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347389" y="3869875"/>
            <a:ext cx="1663207" cy="1794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effect 2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35" name="화살표 34"/>
          <p:cNvCxnSpPr>
            <a:stCxn id="33" idx="3"/>
            <a:endCxn id="34" idx="1"/>
          </p:cNvCxnSpPr>
          <p:nvPr/>
        </p:nvCxnSpPr>
        <p:spPr>
          <a:xfrm>
            <a:off x="2446551" y="4767196"/>
            <a:ext cx="90083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가로 글상자 35"/>
          <p:cNvSpPr txBox="1"/>
          <p:nvPr/>
        </p:nvSpPr>
        <p:spPr>
          <a:xfrm>
            <a:off x="2564976" y="4966162"/>
            <a:ext cx="3824943" cy="289733"/>
          </a:xfrm>
          <a:prstGeom prst="rect">
            <a:avLst/>
          </a:prstGeom>
          <a:solidFill>
            <a:schemeClr val="lt1"/>
          </a:solidFill>
          <a:ln>
            <a:solidFill>
              <a:srgbClr val="3a3c84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우측 </a:t>
            </a:r>
            <a:r>
              <a:rPr lang="en-US" altLang="ko-KR" sz="1300"/>
              <a:t>+ </a:t>
            </a:r>
            <a:r>
              <a:rPr lang="ko-KR" altLang="en-US" sz="1300"/>
              <a:t>클릭 시 </a:t>
            </a:r>
            <a:r>
              <a:rPr lang="en-US" altLang="ko-KR" sz="1300"/>
              <a:t>ableton</a:t>
            </a:r>
            <a:r>
              <a:rPr lang="ko-KR" altLang="en-US" sz="1300"/>
              <a:t> 처럼 옆으로 계속 이어 붙임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37" name="직사각형 36"/>
          <p:cNvSpPr/>
          <p:nvPr/>
        </p:nvSpPr>
        <p:spPr>
          <a:xfrm rot="5400000">
            <a:off x="1005576" y="5007792"/>
            <a:ext cx="215323" cy="16632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+</a:t>
            </a:r>
            <a:endParaRPr lang="en-US" altLang="ko-K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7952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>
            <a:off x="281635" y="242579"/>
            <a:ext cx="1226308" cy="36511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트랙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25724" b="64099"/>
          <a:stretch>
            <a:fillRect/>
          </a:stretch>
        </p:blipFill>
        <p:spPr>
          <a:xfrm>
            <a:off x="222761" y="820301"/>
            <a:ext cx="11746478" cy="47804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94789" y="820301"/>
            <a:ext cx="395859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9" name="화살표 8"/>
          <p:cNvCxnSpPr>
            <a:stCxn id="8" idx="3"/>
            <a:endCxn id="10" idx="1"/>
          </p:cNvCxnSpPr>
          <p:nvPr/>
        </p:nvCxnSpPr>
        <p:spPr>
          <a:xfrm flipV="1">
            <a:off x="1290648" y="532123"/>
            <a:ext cx="829916" cy="5272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가로 글상자 9"/>
          <p:cNvSpPr txBox="1"/>
          <p:nvPr/>
        </p:nvSpPr>
        <p:spPr>
          <a:xfrm>
            <a:off x="2120564" y="389876"/>
            <a:ext cx="4399935" cy="2844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‘V’</a:t>
            </a:r>
            <a:r>
              <a:rPr lang="ko-KR" altLang="en-US" sz="1300"/>
              <a:t> 버튼을 만든다</a:t>
            </a:r>
            <a:r>
              <a:rPr lang="en-US" altLang="ko-KR" sz="1300"/>
              <a:t>.</a:t>
            </a:r>
            <a:r>
              <a:rPr lang="ko-KR" altLang="en-US" sz="1300"/>
              <a:t> 이 버튼을 클릭하면 아래와 같이 뜬다</a:t>
            </a:r>
            <a:r>
              <a:rPr lang="en-US" altLang="ko-KR" sz="1300"/>
              <a:t>.</a:t>
            </a:r>
            <a:r>
              <a:rPr lang="ko-KR" altLang="en-US" sz="1300"/>
              <a:t> </a:t>
            </a:r>
            <a:endParaRPr lang="ko-KR" altLang="en-US" sz="1300"/>
          </a:p>
        </p:txBody>
      </p:sp>
      <p:sp>
        <p:nvSpPr>
          <p:cNvPr id="11" name="직사각형 10"/>
          <p:cNvSpPr/>
          <p:nvPr/>
        </p:nvSpPr>
        <p:spPr>
          <a:xfrm>
            <a:off x="759433" y="820301"/>
            <a:ext cx="135355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2" name="화살표 11"/>
          <p:cNvCxnSpPr>
            <a:stCxn id="11" idx="0"/>
            <a:endCxn id="15" idx="1"/>
          </p:cNvCxnSpPr>
          <p:nvPr/>
        </p:nvCxnSpPr>
        <p:spPr>
          <a:xfrm flipV="1">
            <a:off x="827111" y="243849"/>
            <a:ext cx="1293453" cy="5764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가로 글상자 14"/>
          <p:cNvSpPr txBox="1"/>
          <p:nvPr/>
        </p:nvSpPr>
        <p:spPr>
          <a:xfrm>
            <a:off x="2120565" y="99078"/>
            <a:ext cx="3211816" cy="2895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track on / off</a:t>
            </a:r>
            <a:r>
              <a:rPr lang="ko-KR" altLang="en-US" sz="1300"/>
              <a:t> 버튼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fl studio</a:t>
            </a:r>
            <a:r>
              <a:rPr lang="ko-KR" altLang="en-US" sz="1300"/>
              <a:t>를 준용함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16" name="직사각형 15"/>
          <p:cNvSpPr/>
          <p:nvPr/>
        </p:nvSpPr>
        <p:spPr>
          <a:xfrm>
            <a:off x="222761" y="1402185"/>
            <a:ext cx="11746478" cy="21087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81635" y="1467669"/>
            <a:ext cx="1566634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가로 글상자 20"/>
          <p:cNvSpPr txBox="1"/>
          <p:nvPr/>
        </p:nvSpPr>
        <p:spPr>
          <a:xfrm>
            <a:off x="1745517" y="966826"/>
            <a:ext cx="7346732" cy="28883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트랙 기본 규칙은</a:t>
            </a:r>
            <a:r>
              <a:rPr lang="en-US" altLang="ko-KR" sz="1300"/>
              <a:t> Ableton</a:t>
            </a:r>
            <a:r>
              <a:rPr lang="ko-KR" altLang="en-US" sz="1300"/>
              <a:t>처럼 한 트랙이 하나의 </a:t>
            </a:r>
            <a:r>
              <a:rPr lang="en-US" altLang="ko-KR" sz="1300"/>
              <a:t>instrument</a:t>
            </a:r>
            <a:r>
              <a:rPr lang="ko-KR" altLang="en-US" sz="1300"/>
              <a:t>나 샘플을 관장하는 형식으로 한다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23" name="직사각형 22"/>
          <p:cNvSpPr/>
          <p:nvPr/>
        </p:nvSpPr>
        <p:spPr>
          <a:xfrm>
            <a:off x="1905170" y="1470765"/>
            <a:ext cx="8080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0042746" y="1467669"/>
            <a:ext cx="1857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25" name="화살표 24"/>
          <p:cNvCxnSpPr/>
          <p:nvPr/>
        </p:nvCxnSpPr>
        <p:spPr>
          <a:xfrm rot="10800000" flipV="1">
            <a:off x="4196953" y="3429000"/>
            <a:ext cx="1832907" cy="3575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10149902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1037068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22761" y="3786531"/>
            <a:ext cx="8080675" cy="2241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281635" y="3869875"/>
            <a:ext cx="1663207" cy="1794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effect 1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883969" y="3869875"/>
            <a:ext cx="1663207" cy="89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effect 1-1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35" name="화살표 34"/>
          <p:cNvCxnSpPr>
            <a:stCxn id="37" idx="0"/>
          </p:cNvCxnSpPr>
          <p:nvPr/>
        </p:nvCxnSpPr>
        <p:spPr>
          <a:xfrm rot="5400000" flipH="1" flipV="1">
            <a:off x="1743032" y="4969005"/>
            <a:ext cx="1072199" cy="66858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 rot="5400000">
            <a:off x="1005576" y="5007792"/>
            <a:ext cx="215323" cy="16632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+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883969" y="4850541"/>
            <a:ext cx="1663207" cy="89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effect 1-2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803130" y="3869875"/>
            <a:ext cx="942878" cy="89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가로 글상자 35"/>
          <p:cNvSpPr txBox="1"/>
          <p:nvPr/>
        </p:nvSpPr>
        <p:spPr>
          <a:xfrm>
            <a:off x="6324958" y="4035309"/>
            <a:ext cx="3824944" cy="1477761"/>
          </a:xfrm>
          <a:prstGeom prst="rect">
            <a:avLst/>
          </a:prstGeom>
          <a:solidFill>
            <a:schemeClr val="lt1"/>
          </a:solidFill>
          <a:ln>
            <a:solidFill>
              <a:srgbClr val="3a3c84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아래의 </a:t>
            </a:r>
            <a:r>
              <a:rPr lang="en-US" altLang="ko-KR" sz="1300"/>
              <a:t>+</a:t>
            </a:r>
            <a:r>
              <a:rPr lang="ko-KR" altLang="en-US" sz="1300"/>
              <a:t> 클릭 시 이렇게 바뀜</a:t>
            </a:r>
            <a:r>
              <a:rPr lang="en-US" altLang="ko-KR" sz="1300"/>
              <a:t>.</a:t>
            </a:r>
            <a:r>
              <a:rPr lang="ko-KR" altLang="en-US" sz="1300"/>
              <a:t> 이후에 오른쪽 버튼은 위는 그대로 </a:t>
            </a:r>
            <a:r>
              <a:rPr lang="en-US" altLang="ko-KR" sz="1300"/>
              <a:t>+</a:t>
            </a:r>
            <a:r>
              <a:rPr lang="ko-KR" altLang="en-US" sz="1300"/>
              <a:t> </a:t>
            </a:r>
            <a:r>
              <a:rPr lang="en-US" altLang="ko-KR" sz="1300"/>
              <a:t>/</a:t>
            </a:r>
            <a:r>
              <a:rPr lang="ko-KR" altLang="en-US" sz="1300"/>
              <a:t> 아래는 병합 버튼</a:t>
            </a:r>
            <a:r>
              <a:rPr lang="en-US" altLang="ko-KR" sz="1300"/>
              <a:t>(</a:t>
            </a:r>
            <a:r>
              <a:rPr lang="ko-KR" altLang="en-US" sz="1300"/>
              <a:t>병합 버튼이 둘 중 하나라도 클릭되면</a:t>
            </a:r>
            <a:r>
              <a:rPr lang="en-US" altLang="ko-KR" sz="1300"/>
              <a:t>,</a:t>
            </a:r>
            <a:r>
              <a:rPr lang="ko-KR" altLang="en-US" sz="1300"/>
              <a:t> 자동으로 다음 이펙터부터는 병렬이 마무리되고 병합됨</a:t>
            </a:r>
            <a:r>
              <a:rPr lang="en-US" altLang="ko-KR" sz="1300"/>
              <a:t>.</a:t>
            </a:r>
            <a:endParaRPr lang="en-US" altLang="ko-KR" sz="1300"/>
          </a:p>
          <a:p>
            <a:pPr lvl="0">
              <a:defRPr/>
            </a:pPr>
            <a:endParaRPr lang="en-US" altLang="ko-KR" sz="1300"/>
          </a:p>
          <a:p>
            <a:pPr lvl="0">
              <a:defRPr/>
            </a:pPr>
            <a:r>
              <a:rPr lang="ko-KR" altLang="en-US" sz="1300"/>
              <a:t>이 상황에서 한 번더 분기를 하고 싶으면 아래의 </a:t>
            </a:r>
            <a:r>
              <a:rPr lang="en-US" altLang="ko-KR" sz="1300"/>
              <a:t>+</a:t>
            </a:r>
            <a:r>
              <a:rPr lang="ko-KR" altLang="en-US" sz="1300"/>
              <a:t>버튼을 클릭하면 됨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42" name="직사각형 41"/>
          <p:cNvSpPr/>
          <p:nvPr/>
        </p:nvSpPr>
        <p:spPr>
          <a:xfrm>
            <a:off x="2803130" y="4850541"/>
            <a:ext cx="942878" cy="897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3" name="화살표 42"/>
          <p:cNvCxnSpPr/>
          <p:nvPr/>
        </p:nvCxnSpPr>
        <p:spPr>
          <a:xfrm flipV="1">
            <a:off x="2940278" y="3991691"/>
            <a:ext cx="668582" cy="6592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화살표 43"/>
          <p:cNvCxnSpPr/>
          <p:nvPr/>
        </p:nvCxnSpPr>
        <p:spPr>
          <a:xfrm>
            <a:off x="2903817" y="4982303"/>
            <a:ext cx="698876" cy="6988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5608159" y="3869875"/>
            <a:ext cx="487841" cy="4069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+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46" name="화살표 45"/>
          <p:cNvCxnSpPr/>
          <p:nvPr/>
        </p:nvCxnSpPr>
        <p:spPr>
          <a:xfrm>
            <a:off x="5695570" y="4464843"/>
            <a:ext cx="334291" cy="24407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5608159" y="4360208"/>
            <a:ext cx="487841" cy="4069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5608159" y="4850541"/>
            <a:ext cx="487841" cy="4069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+</a:t>
            </a:r>
            <a:endParaRPr lang="en-US" altLang="ko-KR">
              <a:solidFill>
                <a:schemeClr val="tx1"/>
              </a:solidFill>
            </a:endParaRPr>
          </a:p>
        </p:txBody>
      </p:sp>
      <p:cxnSp>
        <p:nvCxnSpPr>
          <p:cNvPr id="49" name="화살표 48"/>
          <p:cNvCxnSpPr/>
          <p:nvPr/>
        </p:nvCxnSpPr>
        <p:spPr>
          <a:xfrm flipV="1">
            <a:off x="5695570" y="5411390"/>
            <a:ext cx="334291" cy="2531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5608159" y="5340874"/>
            <a:ext cx="487841" cy="4069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 rot="5400000">
            <a:off x="4622338" y="5066254"/>
            <a:ext cx="215323" cy="16632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>
                <a:solidFill>
                  <a:schemeClr val="tx1"/>
                </a:solidFill>
              </a:rPr>
              <a:t>+</a:t>
            </a:r>
            <a:endParaRPr lang="en-US" altLang="ko-K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910733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>
            <a:off x="281635" y="242579"/>
            <a:ext cx="1226308" cy="36511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트랙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25724" b="64099"/>
          <a:stretch>
            <a:fillRect/>
          </a:stretch>
        </p:blipFill>
        <p:spPr>
          <a:xfrm>
            <a:off x="222761" y="820301"/>
            <a:ext cx="11746478" cy="47804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94789" y="820301"/>
            <a:ext cx="395859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9" name="화살표 8"/>
          <p:cNvCxnSpPr>
            <a:stCxn id="8" idx="3"/>
            <a:endCxn id="10" idx="1"/>
          </p:cNvCxnSpPr>
          <p:nvPr/>
        </p:nvCxnSpPr>
        <p:spPr>
          <a:xfrm flipV="1">
            <a:off x="1290648" y="532123"/>
            <a:ext cx="829916" cy="5272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가로 글상자 9"/>
          <p:cNvSpPr txBox="1"/>
          <p:nvPr/>
        </p:nvSpPr>
        <p:spPr>
          <a:xfrm>
            <a:off x="2120564" y="389876"/>
            <a:ext cx="4399935" cy="2844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‘V’</a:t>
            </a:r>
            <a:r>
              <a:rPr lang="ko-KR" altLang="en-US" sz="1300"/>
              <a:t> 버튼을 만든다</a:t>
            </a:r>
            <a:r>
              <a:rPr lang="en-US" altLang="ko-KR" sz="1300"/>
              <a:t>.</a:t>
            </a:r>
            <a:r>
              <a:rPr lang="ko-KR" altLang="en-US" sz="1300"/>
              <a:t> 이 버튼을 클릭하면 아래와 같이 뜬다</a:t>
            </a:r>
            <a:r>
              <a:rPr lang="en-US" altLang="ko-KR" sz="1300"/>
              <a:t>.</a:t>
            </a:r>
            <a:r>
              <a:rPr lang="ko-KR" altLang="en-US" sz="1300"/>
              <a:t> </a:t>
            </a:r>
            <a:endParaRPr lang="ko-KR" altLang="en-US" sz="1300"/>
          </a:p>
        </p:txBody>
      </p:sp>
      <p:sp>
        <p:nvSpPr>
          <p:cNvPr id="11" name="직사각형 10"/>
          <p:cNvSpPr/>
          <p:nvPr/>
        </p:nvSpPr>
        <p:spPr>
          <a:xfrm>
            <a:off x="759433" y="820301"/>
            <a:ext cx="135355" cy="478045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2" name="화살표 11"/>
          <p:cNvCxnSpPr>
            <a:stCxn id="11" idx="0"/>
            <a:endCxn id="15" idx="1"/>
          </p:cNvCxnSpPr>
          <p:nvPr/>
        </p:nvCxnSpPr>
        <p:spPr>
          <a:xfrm flipV="1">
            <a:off x="827111" y="243849"/>
            <a:ext cx="1293453" cy="5764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가로 글상자 14"/>
          <p:cNvSpPr txBox="1"/>
          <p:nvPr/>
        </p:nvSpPr>
        <p:spPr>
          <a:xfrm>
            <a:off x="2120565" y="99078"/>
            <a:ext cx="3211816" cy="28954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track on / off</a:t>
            </a:r>
            <a:r>
              <a:rPr lang="ko-KR" altLang="en-US" sz="1300"/>
              <a:t> 버튼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fl studio</a:t>
            </a:r>
            <a:r>
              <a:rPr lang="ko-KR" altLang="en-US" sz="1300"/>
              <a:t>를 준용함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16" name="직사각형 15"/>
          <p:cNvSpPr/>
          <p:nvPr/>
        </p:nvSpPr>
        <p:spPr>
          <a:xfrm>
            <a:off x="222761" y="1402185"/>
            <a:ext cx="11746478" cy="21087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81635" y="1467669"/>
            <a:ext cx="1566634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가로 글상자 20"/>
          <p:cNvSpPr txBox="1"/>
          <p:nvPr/>
        </p:nvSpPr>
        <p:spPr>
          <a:xfrm>
            <a:off x="1745517" y="966826"/>
            <a:ext cx="7346732" cy="288834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트랙 기본 규칙은</a:t>
            </a:r>
            <a:r>
              <a:rPr lang="en-US" altLang="ko-KR" sz="1300"/>
              <a:t> Ableton</a:t>
            </a:r>
            <a:r>
              <a:rPr lang="ko-KR" altLang="en-US" sz="1300"/>
              <a:t>처럼 한 트랙이 하나의 </a:t>
            </a:r>
            <a:r>
              <a:rPr lang="en-US" altLang="ko-KR" sz="1300"/>
              <a:t>instrument</a:t>
            </a:r>
            <a:r>
              <a:rPr lang="ko-KR" altLang="en-US" sz="1300"/>
              <a:t>나 샘플을 관장하는 형식으로 한다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23" name="직사각형 22"/>
          <p:cNvSpPr/>
          <p:nvPr/>
        </p:nvSpPr>
        <p:spPr>
          <a:xfrm>
            <a:off x="1905170" y="1470765"/>
            <a:ext cx="8080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0042746" y="1467669"/>
            <a:ext cx="1857675" cy="196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25" name="화살표 24"/>
          <p:cNvCxnSpPr>
            <a:stCxn id="29" idx="2"/>
            <a:endCxn id="52" idx="0"/>
          </p:cNvCxnSpPr>
          <p:nvPr/>
        </p:nvCxnSpPr>
        <p:spPr>
          <a:xfrm rot="10800000" flipV="1">
            <a:off x="8237430" y="3379946"/>
            <a:ext cx="2290571" cy="655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10149902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가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1037068" y="1531725"/>
            <a:ext cx="756198" cy="1848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tx1"/>
                </a:solidFill>
              </a:rPr>
              <a:t>나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가로 글상자 51"/>
          <p:cNvSpPr txBox="1"/>
          <p:nvPr/>
        </p:nvSpPr>
        <p:spPr>
          <a:xfrm>
            <a:off x="6324958" y="4035308"/>
            <a:ext cx="3824944" cy="677662"/>
          </a:xfrm>
          <a:prstGeom prst="rect">
            <a:avLst/>
          </a:prstGeom>
          <a:solidFill>
            <a:schemeClr val="lt1"/>
          </a:solidFill>
          <a:ln>
            <a:solidFill>
              <a:srgbClr val="3a3c84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몇 번 트랙</a:t>
            </a:r>
            <a:r>
              <a:rPr lang="en-US" altLang="ko-KR" sz="1300"/>
              <a:t>(input=number </a:t>
            </a:r>
            <a:r>
              <a:rPr lang="ko-KR" altLang="en-US" sz="1300"/>
              <a:t>태그</a:t>
            </a:r>
            <a:r>
              <a:rPr lang="en-US" altLang="ko-KR" sz="1300"/>
              <a:t>)</a:t>
            </a:r>
            <a:endParaRPr lang="ko-KR" altLang="en-US" sz="1300"/>
          </a:p>
          <a:p>
            <a:pPr lvl="0">
              <a:defRPr/>
            </a:pPr>
            <a:r>
              <a:rPr lang="ko-KR" altLang="en-US" sz="1300"/>
              <a:t>의 어느 </a:t>
            </a:r>
            <a:r>
              <a:rPr lang="en-US" altLang="ko-KR" sz="1300"/>
              <a:t>plugin</a:t>
            </a:r>
            <a:r>
              <a:rPr lang="ko-KR" altLang="en-US" sz="1300"/>
              <a:t>으로 가는지</a:t>
            </a:r>
            <a:r>
              <a:rPr lang="en-US" altLang="ko-KR" sz="1300"/>
              <a:t>(select-option </a:t>
            </a:r>
            <a:r>
              <a:rPr lang="ko-KR" altLang="en-US" sz="1300"/>
              <a:t>태그</a:t>
            </a:r>
            <a:r>
              <a:rPr lang="en-US" altLang="ko-KR" sz="1300"/>
              <a:t>)</a:t>
            </a:r>
            <a:endParaRPr lang="en-US" altLang="ko-KR" sz="1300"/>
          </a:p>
          <a:p>
            <a:pPr lvl="0">
              <a:defRPr/>
            </a:pPr>
            <a:r>
              <a:rPr lang="ko-KR" altLang="en-US" sz="1300"/>
              <a:t>설정하도록 함</a:t>
            </a:r>
            <a:r>
              <a:rPr lang="en-US" altLang="ko-KR" sz="1300"/>
              <a:t>.</a:t>
            </a:r>
            <a:endParaRPr lang="en-US" altLang="ko-KR" sz="1300"/>
          </a:p>
        </p:txBody>
      </p:sp>
      <p:sp>
        <p:nvSpPr>
          <p:cNvPr id="53" name="가로 글상자 52"/>
          <p:cNvSpPr txBox="1"/>
          <p:nvPr/>
        </p:nvSpPr>
        <p:spPr>
          <a:xfrm>
            <a:off x="281635" y="5624203"/>
            <a:ext cx="11574540" cy="6386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Nyxi Ai Agent - </a:t>
            </a:r>
            <a:r>
              <a:rPr lang="ko-KR" altLang="en-US"/>
              <a:t>기본적으로는 </a:t>
            </a:r>
            <a:r>
              <a:rPr lang="en-US" altLang="ko-KR"/>
              <a:t>fruity dance</a:t>
            </a:r>
            <a:r>
              <a:rPr lang="ko-KR" altLang="en-US"/>
              <a:t>의 </a:t>
            </a:r>
            <a:r>
              <a:rPr lang="en-US" altLang="ko-KR"/>
              <a:t>fl chan</a:t>
            </a:r>
            <a:r>
              <a:rPr lang="ko-KR" altLang="en-US"/>
              <a:t>과 같이 플레이할 때 </a:t>
            </a:r>
            <a:r>
              <a:rPr lang="en-US" altLang="ko-KR"/>
              <a:t>bpm</a:t>
            </a:r>
            <a:r>
              <a:rPr lang="ko-KR" altLang="en-US"/>
              <a:t>에 맞춰 춤을 추지만</a:t>
            </a:r>
            <a:r>
              <a:rPr lang="en-US" altLang="ko-KR"/>
              <a:t>,</a:t>
            </a:r>
            <a:r>
              <a:rPr lang="ko-KR" altLang="en-US"/>
              <a:t> 더블 클릭하면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Agent</a:t>
            </a:r>
            <a:r>
              <a:rPr lang="ko-KR" altLang="en-US"/>
              <a:t> 조언 및 채팅이 아래에 나타남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521975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491</ep:Words>
  <ep:PresentationFormat>화면 슬라이드 쇼(4:3)</ep:PresentationFormat>
  <ep:Paragraphs>118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한컴오피스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2026-10-05T00:58:42.079</dcterms:created>
  <dc:creator>USER</dc:creator>
  <cp:lastModifiedBy>USER</cp:lastModifiedBy>
  <dcterms:modified xsi:type="dcterms:W3CDTF">2026-10-05T02:27:14.894</dcterms:modified>
  <cp:revision>9</cp:revision>
  <cp:version>13.0.0.3901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