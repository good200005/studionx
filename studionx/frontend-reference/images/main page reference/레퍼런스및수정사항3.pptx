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60" d="100"/>
          <a:sy n="6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8745" y="201650"/>
            <a:ext cx="4999153" cy="6454699"/>
          </a:xfrm>
          <a:prstGeom prst="rect">
            <a:avLst/>
          </a:prstGeom>
        </p:spPr>
      </p:pic>
      <p:cxnSp>
        <p:nvCxnSpPr>
          <p:cNvPr id="5" name="화살표 9"/>
          <p:cNvCxnSpPr>
            <a:endCxn id="6" idx="1"/>
          </p:cNvCxnSpPr>
          <p:nvPr/>
        </p:nvCxnSpPr>
        <p:spPr>
          <a:xfrm rot="5400000" flipH="1" flipV="1">
            <a:off x="3616861" y="1722600"/>
            <a:ext cx="3653295" cy="115650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가로 글상자 5"/>
          <p:cNvSpPr txBox="1"/>
          <p:nvPr/>
        </p:nvSpPr>
        <p:spPr>
          <a:xfrm>
            <a:off x="6021760" y="201650"/>
            <a:ext cx="4198770" cy="545108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모바일 버전으로 할 때에 이 부분이 잘리는데</a:t>
            </a:r>
            <a:r>
              <a:rPr lang="en-US" altLang="ko-KR" sz="1000"/>
              <a:t>,</a:t>
            </a:r>
            <a:r>
              <a:rPr lang="ko-KR" altLang="en-US" sz="1000"/>
              <a:t> 조금 줄여서 잘리지 않게 적절히 잘 조절해서 잘리지 않게 하면서 위의 글씨가 너무 방해받지는 않게 해줘</a:t>
            </a:r>
            <a:r>
              <a:rPr lang="en-US" altLang="ko-KR" sz="1000"/>
              <a:t>.</a:t>
            </a:r>
            <a:endParaRPr lang="en-US" altLang="ko-KR" sz="10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95283" y="1254384"/>
            <a:ext cx="2751058" cy="1348856"/>
          </a:xfrm>
          <a:prstGeom prst="rect">
            <a:avLst/>
          </a:prstGeom>
        </p:spPr>
      </p:pic>
      <p:cxnSp>
        <p:nvCxnSpPr>
          <p:cNvPr id="8" name="화살표 9"/>
          <p:cNvCxnSpPr/>
          <p:nvPr/>
        </p:nvCxnSpPr>
        <p:spPr>
          <a:xfrm rot="5400000" flipH="1" flipV="1">
            <a:off x="6514258" y="2278443"/>
            <a:ext cx="1414920" cy="2035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가로 글상자 9"/>
          <p:cNvSpPr txBox="1"/>
          <p:nvPr/>
        </p:nvSpPr>
        <p:spPr>
          <a:xfrm>
            <a:off x="6021760" y="3110868"/>
            <a:ext cx="4198770" cy="697227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해당 디자인은 그대로 두되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hover</a:t>
            </a:r>
            <a:r>
              <a:rPr lang="ko-KR" altLang="en-US" sz="1000"/>
              <a:t> 시 </a:t>
            </a:r>
            <a:r>
              <a:rPr lang="en-US" altLang="ko-KR" sz="1000"/>
              <a:t>Join Us</a:t>
            </a:r>
            <a:r>
              <a:rPr lang="ko-KR" altLang="en-US" sz="1000"/>
              <a:t>의 애니메이션을 준용함</a:t>
            </a:r>
            <a:r>
              <a:rPr lang="en-US" altLang="ko-KR" sz="1000"/>
              <a:t>.</a:t>
            </a: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r>
              <a:rPr lang="ko-KR" altLang="en-US" sz="1000"/>
              <a:t>이 두 버튼을 템플랫으로 지정해둘것</a:t>
            </a:r>
            <a:r>
              <a:rPr lang="en-US" altLang="ko-KR" sz="1000"/>
              <a:t>..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3045519615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2946" y="806886"/>
            <a:ext cx="11126108" cy="5244228"/>
          </a:xfrm>
          <a:prstGeom prst="rect">
            <a:avLst/>
          </a:prstGeom>
        </p:spPr>
      </p:pic>
      <p:cxnSp>
        <p:nvCxnSpPr>
          <p:cNvPr id="6" name="화살표 9"/>
          <p:cNvCxnSpPr>
            <a:stCxn id="8" idx="0"/>
            <a:endCxn id="7" idx="2"/>
          </p:cNvCxnSpPr>
          <p:nvPr/>
        </p:nvCxnSpPr>
        <p:spPr>
          <a:xfrm rot="16200000" flipV="1">
            <a:off x="7122810" y="3120505"/>
            <a:ext cx="2005329" cy="865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가로 글상자 6"/>
          <p:cNvSpPr txBox="1"/>
          <p:nvPr/>
        </p:nvSpPr>
        <p:spPr>
          <a:xfrm>
            <a:off x="6021760" y="1422064"/>
            <a:ext cx="4198770" cy="700106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그 아래에 일러스트를 넣을 예정인데</a:t>
            </a:r>
            <a:r>
              <a:rPr lang="en-US" altLang="ko-KR" sz="1000"/>
              <a:t>,</a:t>
            </a:r>
            <a:r>
              <a:rPr lang="ko-KR" altLang="en-US" sz="1000"/>
              <a:t> 아직은 구현 안 했으니</a:t>
            </a:r>
            <a:r>
              <a:rPr lang="en-US" altLang="ko-KR" sz="1000"/>
              <a:t>,</a:t>
            </a:r>
            <a:r>
              <a:rPr lang="ko-KR" altLang="en-US" sz="1000"/>
              <a:t> 경계선만 좀 더 연장하는 선으로 끝내줘</a:t>
            </a:r>
            <a:r>
              <a:rPr lang="en-US" altLang="ko-KR" sz="1000"/>
              <a:t>(</a:t>
            </a:r>
            <a:r>
              <a:rPr lang="ko-KR" altLang="en-US" sz="1000"/>
              <a:t>보라색 참조</a:t>
            </a:r>
            <a:r>
              <a:rPr lang="en-US" altLang="ko-KR" sz="1000"/>
              <a:t>).</a:t>
            </a:r>
            <a:r>
              <a:rPr lang="ko-KR" altLang="en-US" sz="1000"/>
              <a:t> 나중에 일러스트 넣을게</a:t>
            </a:r>
            <a:r>
              <a:rPr lang="en-US" altLang="ko-KR" sz="1000"/>
              <a:t>.</a:t>
            </a: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r>
              <a:rPr lang="en-US" altLang="ko-KR" sz="1000"/>
              <a:t>(</a:t>
            </a:r>
            <a:r>
              <a:rPr lang="ko-KR" altLang="en-US" sz="1000"/>
              <a:t>아니면</a:t>
            </a:r>
            <a:r>
              <a:rPr lang="en-US" altLang="ko-KR" sz="1000"/>
              <a:t>,</a:t>
            </a:r>
            <a:r>
              <a:rPr lang="ko-KR" altLang="en-US" sz="1000"/>
              <a:t> 구역만 표시하는 선에서 끝내줘</a:t>
            </a:r>
            <a:r>
              <a:rPr lang="en-US" altLang="ko-KR" sz="1000"/>
              <a:t>.</a:t>
            </a:r>
            <a:r>
              <a:rPr lang="ko-KR" altLang="en-US" sz="1000"/>
              <a:t> 일단 </a:t>
            </a:r>
            <a:r>
              <a:rPr lang="en-US" altLang="ko-KR" sz="1000"/>
              <a:t>-</a:t>
            </a:r>
            <a:r>
              <a:rPr lang="ko-KR" altLang="en-US" sz="1000"/>
              <a:t> 파란색 네모 참고</a:t>
            </a:r>
            <a:r>
              <a:rPr lang="en-US" altLang="ko-KR" sz="1000"/>
              <a:t>)</a:t>
            </a:r>
            <a:endParaRPr lang="en-US" altLang="ko-KR" sz="1000"/>
          </a:p>
        </p:txBody>
      </p:sp>
      <p:sp>
        <p:nvSpPr>
          <p:cNvPr id="8" name="가로 글상자 7"/>
          <p:cNvSpPr txBox="1"/>
          <p:nvPr/>
        </p:nvSpPr>
        <p:spPr>
          <a:xfrm>
            <a:off x="5268419" y="4127499"/>
            <a:ext cx="5722770" cy="1309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  <a:p>
            <a:pPr lvl="0">
              <a:defRPr/>
            </a:pPr>
            <a:endParaRPr lang="en-US" altLang="ko-KR" sz="1000"/>
          </a:p>
        </p:txBody>
      </p:sp>
      <p:sp>
        <p:nvSpPr>
          <p:cNvPr id="9" name="직사각형 8"/>
          <p:cNvSpPr/>
          <p:nvPr/>
        </p:nvSpPr>
        <p:spPr>
          <a:xfrm>
            <a:off x="5502854" y="4208318"/>
            <a:ext cx="1638732" cy="116897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301778" y="4208318"/>
            <a:ext cx="1638732" cy="116897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059934" y="4208318"/>
            <a:ext cx="1638732" cy="116897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3" name="선 12"/>
          <p:cNvCxnSpPr/>
          <p:nvPr/>
        </p:nvCxnSpPr>
        <p:spPr>
          <a:xfrm rot="16200000" flipH="1">
            <a:off x="6614943" y="4782218"/>
            <a:ext cx="1215271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 rot="16200000" flipH="1">
            <a:off x="8381397" y="4782218"/>
            <a:ext cx="1215271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54804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2946" y="806886"/>
            <a:ext cx="11126108" cy="525896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190625" y="2246312"/>
            <a:ext cx="6191249" cy="2793999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캐릭터 소개를 쓰는 곳이야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r>
              <a:rPr lang="ko-KR" altLang="en-US">
                <a:solidFill>
                  <a:schemeClr val="tx1"/>
                </a:solidFill>
              </a:rPr>
              <a:t> 내용은 아래의 내용을 잘 활용</a:t>
            </a:r>
            <a:endParaRPr lang="ko-KR" altLang="en-US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1352" y="3643312"/>
            <a:ext cx="4092295" cy="2286198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7413624" y="2246312"/>
            <a:ext cx="3292928" cy="2793999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캐릭터 일러스트</a:t>
            </a:r>
            <a:endParaRPr lang="ko-KR" altLang="en-US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투명한 걸로 하되 아래 부분에는 살짝 흐릿하게 처리하도록</a:t>
            </a:r>
            <a:endParaRPr lang="ko-KR" altLang="en-US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995487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688" y="743395"/>
            <a:ext cx="11342623" cy="537120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36972" y="1034040"/>
            <a:ext cx="7230338" cy="1001568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전형적인 </a:t>
            </a:r>
            <a:r>
              <a:rPr lang="en-US" altLang="ko-KR" sz="1200">
                <a:solidFill>
                  <a:schemeClr val="tx1"/>
                </a:solidFill>
              </a:rPr>
              <a:t>NOTICE</a:t>
            </a:r>
            <a:r>
              <a:rPr lang="ko-KR" altLang="en-US" sz="1200">
                <a:solidFill>
                  <a:schemeClr val="tx1"/>
                </a:solidFill>
              </a:rPr>
              <a:t> 역할과 비슷한</a:t>
            </a:r>
            <a:r>
              <a:rPr lang="en-US" altLang="ko-KR" sz="1200">
                <a:solidFill>
                  <a:schemeClr val="tx1"/>
                </a:solidFill>
              </a:rPr>
              <a:t>...</a:t>
            </a:r>
            <a:r>
              <a:rPr lang="ko-KR" altLang="en-US" sz="1200">
                <a:solidFill>
                  <a:schemeClr val="tx1"/>
                </a:solidFill>
              </a:rPr>
              <a:t> 느낌</a:t>
            </a:r>
            <a:r>
              <a:rPr lang="en-US" altLang="ko-KR" sz="1200">
                <a:solidFill>
                  <a:schemeClr val="tx1"/>
                </a:solidFill>
              </a:rPr>
              <a:t>?</a:t>
            </a:r>
            <a:endParaRPr lang="en-US" altLang="ko-KR" sz="1200">
              <a:solidFill>
                <a:schemeClr val="tx1"/>
              </a:solidFill>
            </a:endParaRPr>
          </a:p>
          <a:p>
            <a:pPr lvl="0">
              <a:defRPr/>
            </a:pP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해당 부분은 </a:t>
            </a:r>
            <a:r>
              <a:rPr lang="en-US" altLang="ko-KR" sz="1200">
                <a:solidFill>
                  <a:schemeClr val="tx1"/>
                </a:solidFill>
              </a:rPr>
              <a:t>admin</a:t>
            </a:r>
            <a:r>
              <a:rPr lang="ko-KR" altLang="en-US" sz="1200">
                <a:solidFill>
                  <a:schemeClr val="tx1"/>
                </a:solidFill>
              </a:rPr>
              <a:t> 페이지를 통해서</a:t>
            </a:r>
            <a:r>
              <a:rPr lang="en-US" altLang="ko-KR" sz="1200">
                <a:solidFill>
                  <a:schemeClr val="tx1"/>
                </a:solidFill>
              </a:rPr>
              <a:t>(FastAPI</a:t>
            </a:r>
            <a:r>
              <a:rPr lang="ko-KR" altLang="en-US" sz="1200">
                <a:solidFill>
                  <a:schemeClr val="tx1"/>
                </a:solidFill>
              </a:rPr>
              <a:t>에서의 </a:t>
            </a:r>
            <a:r>
              <a:rPr lang="en-US" altLang="ko-KR" sz="1200">
                <a:solidFill>
                  <a:schemeClr val="tx1"/>
                </a:solidFill>
              </a:rPr>
              <a:t>admin</a:t>
            </a:r>
            <a:r>
              <a:rPr lang="ko-KR" altLang="en-US" sz="1200">
                <a:solidFill>
                  <a:schemeClr val="tx1"/>
                </a:solidFill>
              </a:rPr>
              <a:t> 페이지를 사용할지 아니면 별도 페이지를 만들지 네가 결정해줘</a:t>
            </a:r>
            <a:r>
              <a:rPr lang="en-US" altLang="ko-KR" sz="1200">
                <a:solidFill>
                  <a:schemeClr val="tx1"/>
                </a:solidFill>
              </a:rPr>
              <a:t>.)</a:t>
            </a:r>
            <a:r>
              <a:rPr lang="ko-KR" altLang="en-US" sz="1200">
                <a:solidFill>
                  <a:schemeClr val="tx1"/>
                </a:solidFill>
              </a:rPr>
              <a:t> </a:t>
            </a:r>
            <a:r>
              <a:rPr lang="en-US" altLang="ko-KR" sz="1200">
                <a:solidFill>
                  <a:schemeClr val="tx1"/>
                </a:solidFill>
              </a:rPr>
              <a:t>admin</a:t>
            </a:r>
            <a:r>
              <a:rPr lang="ko-KR" altLang="en-US" sz="1200">
                <a:solidFill>
                  <a:schemeClr val="tx1"/>
                </a:solidFill>
              </a:rPr>
              <a:t> 계정을 통해서만 글을 작성할 수 있는 권한을 가지도록 하고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r>
              <a:rPr lang="ko-KR" altLang="en-US" sz="1200">
                <a:solidFill>
                  <a:schemeClr val="tx1"/>
                </a:solidFill>
              </a:rPr>
              <a:t> 나머지는 읽기만 하도록 함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r>
              <a:rPr lang="ko-KR" altLang="en-US" sz="1200">
                <a:solidFill>
                  <a:schemeClr val="tx1"/>
                </a:solidFill>
              </a:rPr>
              <a:t> </a:t>
            </a:r>
            <a:r>
              <a:rPr lang="en-US" altLang="ko-KR" sz="1200">
                <a:solidFill>
                  <a:schemeClr val="tx1"/>
                </a:solidFill>
              </a:rPr>
              <a:t>css</a:t>
            </a:r>
            <a:r>
              <a:rPr lang="ko-KR" altLang="en-US" sz="1200">
                <a:solidFill>
                  <a:schemeClr val="tx1"/>
                </a:solidFill>
              </a:rPr>
              <a:t>형식은 아래와 같이 하도록 함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48589" y="2263630"/>
            <a:ext cx="2433203" cy="2793999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1</a:t>
            </a:r>
            <a:endParaRPr lang="en-US" altLang="ko-KR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472294" y="2263630"/>
            <a:ext cx="2433203" cy="2793999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2</a:t>
            </a:r>
            <a:endParaRPr lang="en-US" altLang="ko-KR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096000" y="2263630"/>
            <a:ext cx="2433203" cy="2793999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3</a:t>
            </a:r>
            <a:endParaRPr lang="en-US" altLang="ko-KR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719706" y="2287789"/>
            <a:ext cx="2433203" cy="2793999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4</a:t>
            </a:r>
            <a:endParaRPr lang="en-US" altLang="ko-KR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선 9"/>
          <p:cNvCxnSpPr/>
          <p:nvPr/>
        </p:nvCxnSpPr>
        <p:spPr>
          <a:xfrm rot="16200000" flipH="1" flipV="1">
            <a:off x="1862007" y="3620107"/>
            <a:ext cx="3030086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선 10"/>
          <p:cNvCxnSpPr/>
          <p:nvPr/>
        </p:nvCxnSpPr>
        <p:spPr>
          <a:xfrm rot="16200000" flipH="1" flipV="1">
            <a:off x="4485700" y="3620107"/>
            <a:ext cx="3030086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선 11"/>
          <p:cNvCxnSpPr/>
          <p:nvPr/>
        </p:nvCxnSpPr>
        <p:spPr>
          <a:xfrm rot="16200000" flipH="1" flipV="1">
            <a:off x="7109418" y="3620107"/>
            <a:ext cx="3030086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선 12"/>
          <p:cNvCxnSpPr/>
          <p:nvPr/>
        </p:nvCxnSpPr>
        <p:spPr>
          <a:xfrm>
            <a:off x="848590" y="5247408"/>
            <a:ext cx="10434208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976085" y="5437186"/>
            <a:ext cx="2049315" cy="377151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200">
                <a:solidFill>
                  <a:schemeClr val="tx1"/>
                </a:solidFill>
              </a:rPr>
              <a:t>+</a:t>
            </a:r>
            <a:r>
              <a:rPr lang="ko-KR" altLang="en-US" sz="1200">
                <a:solidFill>
                  <a:schemeClr val="tx1"/>
                </a:solidFill>
              </a:rPr>
              <a:t> </a:t>
            </a:r>
            <a:r>
              <a:rPr lang="en-US" altLang="ko-KR" sz="1200">
                <a:solidFill>
                  <a:schemeClr val="tx1"/>
                </a:solidFill>
              </a:rPr>
              <a:t>View More</a:t>
            </a:r>
            <a:endParaRPr lang="en-US" altLang="ko-KR" sz="1200">
              <a:solidFill>
                <a:schemeClr val="tx1"/>
              </a:solidFill>
            </a:endParaRPr>
          </a:p>
        </p:txBody>
      </p:sp>
      <p:cxnSp>
        <p:nvCxnSpPr>
          <p:cNvPr id="16" name="화살표 9"/>
          <p:cNvCxnSpPr>
            <a:stCxn id="15" idx="3"/>
            <a:endCxn id="17" idx="2"/>
          </p:cNvCxnSpPr>
          <p:nvPr/>
        </p:nvCxnSpPr>
        <p:spPr>
          <a:xfrm flipV="1">
            <a:off x="7025398" y="4869053"/>
            <a:ext cx="2028127" cy="75671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가로 글상자 16"/>
          <p:cNvSpPr txBox="1"/>
          <p:nvPr/>
        </p:nvSpPr>
        <p:spPr>
          <a:xfrm>
            <a:off x="6954140" y="4016546"/>
            <a:ext cx="4198770" cy="852506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버튼 형식 </a:t>
            </a:r>
            <a:r>
              <a:rPr lang="en-US" altLang="ko-KR" sz="1000"/>
              <a:t>X</a:t>
            </a:r>
            <a:endParaRPr lang="en-US" altLang="ko-KR" sz="1000"/>
          </a:p>
          <a:p>
            <a:pPr lvl="0">
              <a:defRPr/>
            </a:pPr>
            <a:endParaRPr lang="ko-KR" altLang="en-US" sz="1000"/>
          </a:p>
          <a:p>
            <a:pPr lvl="0">
              <a:defRPr/>
            </a:pPr>
            <a:r>
              <a:rPr lang="en-US" altLang="ko-KR" sz="1000"/>
              <a:t>hover</a:t>
            </a:r>
            <a:r>
              <a:rPr lang="ko-KR" altLang="en-US" sz="1000"/>
              <a:t> 시 색깔이 바이올렛으로 진하게 변하도록 하고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클릭하면</a:t>
            </a:r>
            <a:r>
              <a:rPr lang="en-US" altLang="ko-KR" sz="1000"/>
              <a:t>,</a:t>
            </a:r>
            <a:r>
              <a:rPr lang="ko-KR" altLang="en-US" sz="1000"/>
              <a:t> 모달창으로 인해 모달 창에서 전체 </a:t>
            </a:r>
            <a:r>
              <a:rPr lang="en-US" altLang="ko-KR" sz="1000"/>
              <a:t>Development</a:t>
            </a:r>
            <a:r>
              <a:rPr lang="ko-KR" altLang="en-US" sz="1000"/>
              <a:t> 게시글 목록이 나온다</a:t>
            </a:r>
            <a:r>
              <a:rPr lang="en-US" altLang="ko-KR" sz="1000"/>
              <a:t>.</a:t>
            </a:r>
            <a:r>
              <a:rPr lang="ko-KR" altLang="en-US" sz="1000"/>
              <a:t> 이에 대한 디자인은 추후 서술 예정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40708449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2858" y="710381"/>
            <a:ext cx="11466284" cy="543723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974623" y="2291050"/>
            <a:ext cx="2029689" cy="38244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200">
                <a:solidFill>
                  <a:schemeClr val="tx1"/>
                </a:solidFill>
              </a:rPr>
              <a:t>Email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74623" y="2910175"/>
            <a:ext cx="2029689" cy="38244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200">
                <a:solidFill>
                  <a:schemeClr val="tx1"/>
                </a:solidFill>
              </a:rPr>
              <a:t>Title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74623" y="4030084"/>
            <a:ext cx="2029689" cy="38244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200">
                <a:solidFill>
                  <a:schemeClr val="tx1"/>
                </a:solidFill>
              </a:rPr>
              <a:t>Contents</a:t>
            </a:r>
            <a:endParaRPr lang="en-US" altLang="ko-KR" sz="1200">
              <a:solidFill>
                <a:schemeClr val="tx1"/>
              </a:solidFill>
            </a:endParaRPr>
          </a:p>
        </p:txBody>
      </p:sp>
      <p:cxnSp>
        <p:nvCxnSpPr>
          <p:cNvPr id="12" name="선 11"/>
          <p:cNvCxnSpPr/>
          <p:nvPr/>
        </p:nvCxnSpPr>
        <p:spPr>
          <a:xfrm>
            <a:off x="848590" y="3410959"/>
            <a:ext cx="10190899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>
            <a:off x="848590" y="2791834"/>
            <a:ext cx="10190899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>
            <a:off x="848590" y="5004665"/>
            <a:ext cx="10190899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4929195" y="5449310"/>
            <a:ext cx="2029689" cy="38244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200">
                <a:solidFill>
                  <a:schemeClr val="tx1"/>
                </a:solidFill>
              </a:rPr>
              <a:t>Send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003028" y="5099915"/>
            <a:ext cx="5882023" cy="19194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200">
                <a:solidFill>
                  <a:schemeClr val="tx1"/>
                </a:solidFill>
              </a:rPr>
              <a:t>checkbox ) </a:t>
            </a:r>
            <a:r>
              <a:rPr lang="ko-KR" altLang="en-US" sz="1200">
                <a:solidFill>
                  <a:schemeClr val="tx1"/>
                </a:solidFill>
              </a:rPr>
              <a:t>개인정보 정책에 동의합니다</a:t>
            </a:r>
            <a:r>
              <a:rPr lang="en-US" altLang="ko-KR" sz="1200">
                <a:solidFill>
                  <a:schemeClr val="tx1"/>
                </a:solidFill>
              </a:rPr>
              <a:t>..</a:t>
            </a:r>
            <a:r>
              <a:rPr lang="ko-KR" altLang="en-US" sz="1200">
                <a:solidFill>
                  <a:schemeClr val="tx1"/>
                </a:solidFill>
              </a:rPr>
              <a:t> 이런 내용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662620" y="378547"/>
            <a:ext cx="4572864" cy="1220642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en-US" altLang="ko-KR" sz="1200">
                <a:solidFill>
                  <a:schemeClr val="tx1"/>
                </a:solidFill>
              </a:rPr>
              <a:t>‘</a:t>
            </a:r>
            <a:r>
              <a:rPr lang="ko-KR" altLang="en-US" sz="1200">
                <a:solidFill>
                  <a:schemeClr val="tx1"/>
                </a:solidFill>
              </a:rPr>
              <a:t>개인정보정책</a:t>
            </a:r>
            <a:r>
              <a:rPr lang="en-US" altLang="ko-KR" sz="1200">
                <a:solidFill>
                  <a:schemeClr val="tx1"/>
                </a:solidFill>
              </a:rPr>
              <a:t>’</a:t>
            </a:r>
            <a:r>
              <a:rPr lang="ko-KR" altLang="en-US" sz="1200">
                <a:solidFill>
                  <a:schemeClr val="tx1"/>
                </a:solidFill>
              </a:rPr>
              <a:t>은 하이퍼링크로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r>
              <a:rPr lang="ko-KR" altLang="en-US" sz="1200">
                <a:solidFill>
                  <a:schemeClr val="tx1"/>
                </a:solidFill>
              </a:rPr>
              <a:t> 이걸 클릭하면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r>
              <a:rPr lang="ko-KR" altLang="en-US" sz="1200">
                <a:solidFill>
                  <a:schemeClr val="tx1"/>
                </a:solidFill>
              </a:rPr>
              <a:t> 모달창으로 개인정보정책이 나옴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en-US" altLang="ko-KR" sz="1200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하이퍼링크는 밑줄 </a:t>
            </a:r>
            <a:r>
              <a:rPr lang="en-US" altLang="ko-KR" sz="1200">
                <a:solidFill>
                  <a:schemeClr val="tx1"/>
                </a:solidFill>
              </a:rPr>
              <a:t>X, </a:t>
            </a:r>
            <a:r>
              <a:rPr lang="ko-KR" altLang="en-US" sz="1200">
                <a:solidFill>
                  <a:schemeClr val="tx1"/>
                </a:solidFill>
              </a:rPr>
              <a:t>굵은 글씨와 바이올렛 색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r>
              <a:rPr lang="ko-KR" altLang="en-US" sz="1200">
                <a:solidFill>
                  <a:schemeClr val="tx1"/>
                </a:solidFill>
              </a:rPr>
              <a:t> 클릭하면 색깔 변하는 것</a:t>
            </a:r>
            <a:r>
              <a:rPr lang="en-US" altLang="ko-KR" sz="1200">
                <a:solidFill>
                  <a:schemeClr val="tx1"/>
                </a:solidFill>
              </a:rPr>
              <a:t>(</a:t>
            </a:r>
            <a:r>
              <a:rPr lang="ko-KR" altLang="en-US" sz="1200">
                <a:solidFill>
                  <a:schemeClr val="tx1"/>
                </a:solidFill>
              </a:rPr>
              <a:t>가능하면 없애고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r>
              <a:rPr lang="ko-KR" altLang="en-US" sz="1200">
                <a:solidFill>
                  <a:schemeClr val="tx1"/>
                </a:solidFill>
              </a:rPr>
              <a:t> 안 되면 그냥 두기</a:t>
            </a:r>
            <a:r>
              <a:rPr lang="en-US" altLang="ko-KR" sz="1200">
                <a:solidFill>
                  <a:schemeClr val="tx1"/>
                </a:solidFill>
              </a:rPr>
              <a:t>)</a:t>
            </a:r>
            <a:endParaRPr lang="en-US" altLang="ko-KR" sz="1200">
              <a:solidFill>
                <a:schemeClr val="tx1"/>
              </a:solidFill>
            </a:endParaRPr>
          </a:p>
        </p:txBody>
      </p:sp>
      <p:cxnSp>
        <p:nvCxnSpPr>
          <p:cNvPr id="20" name="화살표 9"/>
          <p:cNvCxnSpPr>
            <a:stCxn id="18" idx="0"/>
            <a:endCxn id="19" idx="2"/>
          </p:cNvCxnSpPr>
          <p:nvPr/>
        </p:nvCxnSpPr>
        <p:spPr>
          <a:xfrm rot="5400000" flipH="1" flipV="1">
            <a:off x="5196181" y="2347045"/>
            <a:ext cx="3500724" cy="2005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선 20"/>
          <p:cNvCxnSpPr/>
          <p:nvPr/>
        </p:nvCxnSpPr>
        <p:spPr>
          <a:xfrm rot="16200000" flipH="1">
            <a:off x="2976081" y="2485127"/>
            <a:ext cx="514497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선 21"/>
          <p:cNvCxnSpPr/>
          <p:nvPr/>
        </p:nvCxnSpPr>
        <p:spPr>
          <a:xfrm rot="16200000" flipH="1">
            <a:off x="2976081" y="3098542"/>
            <a:ext cx="514497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선 22"/>
          <p:cNvCxnSpPr/>
          <p:nvPr/>
        </p:nvCxnSpPr>
        <p:spPr>
          <a:xfrm rot="16200000" flipH="1">
            <a:off x="2543678" y="4195861"/>
            <a:ext cx="1379302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화살표 9"/>
          <p:cNvCxnSpPr>
            <a:stCxn id="17" idx="0"/>
            <a:endCxn id="25" idx="1"/>
          </p:cNvCxnSpPr>
          <p:nvPr/>
        </p:nvCxnSpPr>
        <p:spPr>
          <a:xfrm flipV="1">
            <a:off x="5944036" y="4218563"/>
            <a:ext cx="1614058" cy="123074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558094" y="4030084"/>
            <a:ext cx="3039338" cy="376958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en-US" altLang="ko-KR" sz="1200">
                <a:solidFill>
                  <a:schemeClr val="tx1"/>
                </a:solidFill>
              </a:rPr>
              <a:t>Send </a:t>
            </a:r>
            <a:r>
              <a:rPr lang="ko-KR" altLang="en-US" sz="1200">
                <a:solidFill>
                  <a:schemeClr val="tx1"/>
                </a:solidFill>
              </a:rPr>
              <a:t>버튼은 </a:t>
            </a:r>
            <a:r>
              <a:rPr lang="en-US" altLang="ko-KR" sz="1200">
                <a:solidFill>
                  <a:schemeClr val="tx1"/>
                </a:solidFill>
              </a:rPr>
              <a:t>Join Us</a:t>
            </a:r>
            <a:r>
              <a:rPr lang="ko-KR" altLang="en-US" sz="1200">
                <a:solidFill>
                  <a:schemeClr val="tx1"/>
                </a:solidFill>
              </a:rPr>
              <a:t> 버튼의 방식을 준용함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en-US" altLang="ko-KR" sz="1200">
              <a:solidFill>
                <a:schemeClr val="tx1"/>
              </a:solidFill>
            </a:endParaRPr>
          </a:p>
        </p:txBody>
      </p:sp>
      <p:cxnSp>
        <p:nvCxnSpPr>
          <p:cNvPr id="26" name="선 25"/>
          <p:cNvCxnSpPr/>
          <p:nvPr/>
        </p:nvCxnSpPr>
        <p:spPr>
          <a:xfrm>
            <a:off x="848590" y="2166649"/>
            <a:ext cx="10190899" cy="0"/>
          </a:xfrm>
          <a:prstGeom prst="line">
            <a:avLst/>
          </a:prstGeom>
          <a:ln>
            <a:solidFill>
              <a:srgbClr val="9d5c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3462345" y="365557"/>
            <a:ext cx="2029689" cy="192549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전형적인 </a:t>
            </a:r>
            <a:r>
              <a:rPr lang="en-US" altLang="ko-KR" sz="1200">
                <a:solidFill>
                  <a:schemeClr val="tx1"/>
                </a:solidFill>
              </a:rPr>
              <a:t>Contact</a:t>
            </a:r>
            <a:r>
              <a:rPr lang="ko-KR" altLang="en-US" sz="1200">
                <a:solidFill>
                  <a:schemeClr val="tx1"/>
                </a:solidFill>
              </a:rPr>
              <a:t> 폼</a:t>
            </a: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세 가지를 얻는다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en-US" altLang="ko-KR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200">
                <a:solidFill>
                  <a:schemeClr val="tx1"/>
                </a:solidFill>
              </a:rPr>
              <a:t>1)</a:t>
            </a:r>
            <a:r>
              <a:rPr lang="ko-KR" altLang="en-US" sz="1200">
                <a:solidFill>
                  <a:schemeClr val="tx1"/>
                </a:solidFill>
              </a:rPr>
              <a:t> 답장받을 </a:t>
            </a:r>
            <a:r>
              <a:rPr lang="en-US" altLang="ko-KR" sz="1200">
                <a:solidFill>
                  <a:schemeClr val="tx1"/>
                </a:solidFill>
              </a:rPr>
              <a:t>email </a:t>
            </a:r>
            <a:r>
              <a:rPr lang="ko-KR" altLang="en-US" sz="1200">
                <a:solidFill>
                  <a:schemeClr val="tx1"/>
                </a:solidFill>
              </a:rPr>
              <a:t>주소</a:t>
            </a: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200">
                <a:solidFill>
                  <a:schemeClr val="tx1"/>
                </a:solidFill>
              </a:rPr>
              <a:t>2) </a:t>
            </a:r>
            <a:r>
              <a:rPr lang="ko-KR" altLang="en-US" sz="1200">
                <a:solidFill>
                  <a:schemeClr val="tx1"/>
                </a:solidFill>
              </a:rPr>
              <a:t>문의글 제목</a:t>
            </a: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200">
                <a:solidFill>
                  <a:schemeClr val="tx1"/>
                </a:solidFill>
              </a:rPr>
              <a:t>3)</a:t>
            </a:r>
            <a:r>
              <a:rPr lang="ko-KR" altLang="en-US" sz="1200">
                <a:solidFill>
                  <a:schemeClr val="tx1"/>
                </a:solidFill>
              </a:rPr>
              <a:t> 내용</a:t>
            </a:r>
            <a:r>
              <a:rPr lang="en-US" altLang="ko-KR" sz="1200">
                <a:solidFill>
                  <a:schemeClr val="tx1"/>
                </a:solidFill>
              </a:rPr>
              <a:t>(textarea 2000</a:t>
            </a:r>
            <a:r>
              <a:rPr lang="ko-KR" altLang="en-US" sz="1200">
                <a:solidFill>
                  <a:schemeClr val="tx1"/>
                </a:solidFill>
              </a:rPr>
              <a:t>자까지</a:t>
            </a:r>
            <a:r>
              <a:rPr lang="en-US" altLang="ko-KR" sz="1200">
                <a:solidFill>
                  <a:schemeClr val="tx1"/>
                </a:solidFill>
              </a:rPr>
              <a:t>)</a:t>
            </a:r>
            <a:endParaRPr lang="en-US" altLang="ko-KR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200">
                <a:solidFill>
                  <a:schemeClr val="tx1"/>
                </a:solidFill>
              </a:rPr>
              <a:t>4) send</a:t>
            </a:r>
            <a:r>
              <a:rPr lang="ko-KR" altLang="en-US" sz="1200">
                <a:solidFill>
                  <a:schemeClr val="tx1"/>
                </a:solidFill>
              </a:rPr>
              <a:t> 버튼</a:t>
            </a: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endParaRPr lang="ko-KR" altLang="en-US" sz="12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배치는 아래와 같음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en-US" altLang="ko-KR" sz="120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462347" y="2386300"/>
            <a:ext cx="3339375" cy="382443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200">
                <a:solidFill>
                  <a:schemeClr val="tx1"/>
                </a:solidFill>
              </a:rPr>
              <a:t>모든 </a:t>
            </a:r>
            <a:r>
              <a:rPr lang="en-US" altLang="ko-KR" sz="1200">
                <a:solidFill>
                  <a:schemeClr val="tx1"/>
                </a:solidFill>
              </a:rPr>
              <a:t>input</a:t>
            </a:r>
            <a:r>
              <a:rPr lang="ko-KR" altLang="en-US" sz="1200">
                <a:solidFill>
                  <a:schemeClr val="tx1"/>
                </a:solidFill>
              </a:rPr>
              <a:t> 태그와 </a:t>
            </a:r>
            <a:r>
              <a:rPr lang="en-US" altLang="ko-KR" sz="1200">
                <a:solidFill>
                  <a:schemeClr val="tx1"/>
                </a:solidFill>
              </a:rPr>
              <a:t>textarea</a:t>
            </a:r>
            <a:r>
              <a:rPr lang="ko-KR" altLang="en-US" sz="1200">
                <a:solidFill>
                  <a:schemeClr val="tx1"/>
                </a:solidFill>
              </a:rPr>
              <a:t>는 테두리 </a:t>
            </a:r>
            <a:r>
              <a:rPr lang="en-US" altLang="ko-KR" sz="1200">
                <a:solidFill>
                  <a:schemeClr val="tx1"/>
                </a:solidFill>
              </a:rPr>
              <a:t>X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44217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6964" y="2997321"/>
            <a:ext cx="11058072" cy="863357"/>
          </a:xfrm>
          <a:prstGeom prst="rect">
            <a:avLst/>
          </a:prstGeom>
        </p:spPr>
      </p:pic>
      <p:cxnSp>
        <p:nvCxnSpPr>
          <p:cNvPr id="7" name="화살표 9"/>
          <p:cNvCxnSpPr>
            <a:stCxn id="8" idx="0"/>
          </p:cNvCxnSpPr>
          <p:nvPr/>
        </p:nvCxnSpPr>
        <p:spPr>
          <a:xfrm rot="16200000">
            <a:off x="5202088" y="2964714"/>
            <a:ext cx="74554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가로 글상자 7"/>
          <p:cNvSpPr txBox="1"/>
          <p:nvPr/>
        </p:nvSpPr>
        <p:spPr>
          <a:xfrm>
            <a:off x="4764154" y="3337484"/>
            <a:ext cx="1621417" cy="2420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endParaRPr lang="ko-KR" altLang="en-US" sz="1000"/>
          </a:p>
        </p:txBody>
      </p:sp>
      <p:sp>
        <p:nvSpPr>
          <p:cNvPr id="9" name="직사각형 8"/>
          <p:cNvSpPr/>
          <p:nvPr/>
        </p:nvSpPr>
        <p:spPr>
          <a:xfrm>
            <a:off x="3619761" y="2214986"/>
            <a:ext cx="3910194" cy="376958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일단 내 메일 주소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r>
              <a:rPr lang="ko-KR" altLang="en-US" sz="1200">
                <a:solidFill>
                  <a:schemeClr val="tx1"/>
                </a:solidFill>
              </a:rPr>
              <a:t> </a:t>
            </a:r>
            <a:r>
              <a:rPr lang="en-US" altLang="ko-KR" sz="1200">
                <a:solidFill>
                  <a:schemeClr val="tx1"/>
                </a:solidFill>
              </a:rPr>
              <a:t>good200005@naver.com</a:t>
            </a:r>
            <a:r>
              <a:rPr lang="ko-KR" altLang="en-US" sz="1200">
                <a:solidFill>
                  <a:schemeClr val="tx1"/>
                </a:solidFill>
              </a:rPr>
              <a:t>으로만 적기</a:t>
            </a:r>
            <a:endParaRPr lang="en-US" altLang="ko-KR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9935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220</ep:Words>
  <ep:PresentationFormat>화면 슬라이드 쇼(4:3)</ep:PresentationFormat>
  <ep:Paragraphs>63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2026-10-02T04:29:55.833</dcterms:created>
  <dc:creator>User</dc:creator>
  <cp:lastModifiedBy>User</cp:lastModifiedBy>
  <dcterms:modified xsi:type="dcterms:W3CDTF">2026-10-02T05:27:46.518</dcterms:modified>
  <cp:revision>11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