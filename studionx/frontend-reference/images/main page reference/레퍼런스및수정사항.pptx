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firstSlideNum="2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569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569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569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569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569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569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569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569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569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110" d="100"/>
          <a:sy n="110" d="100"/>
        </p:scale>
        <p:origin x="0" y="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presProps" Target="presProps.xml"  /><Relationship Id="rId8" Type="http://schemas.openxmlformats.org/officeDocument/2006/relationships/viewProps" Target="viewProps.xml"  /><Relationship Id="rId9" Type="http://schemas.openxmlformats.org/officeDocument/2006/relationships/theme" Target="theme/theme1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940A130E-E3B8-4EBE-931F-81B26B8448AA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800C6A38-4290-41DD-B95C-4155372FD4A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4953836A-82A3-4C8B-9D31-CD724F3673ED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AD2EBAF6-36D0-4DD8-B695-D4C1B37E35D6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1265" b="1" cap="all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632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569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506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442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442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442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442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442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4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60728D28-603B-4EFC-80F8-17E5E9107035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885"/>
            </a:lvl1pPr>
            <a:lvl2pPr>
              <a:defRPr sz="759"/>
            </a:lvl2pPr>
            <a:lvl3pPr>
              <a:defRPr sz="632"/>
            </a:lvl3pPr>
            <a:lvl4pPr>
              <a:defRPr sz="569"/>
            </a:lvl4pPr>
            <a:lvl5pPr>
              <a:defRPr sz="569"/>
            </a:lvl5pPr>
            <a:lvl6pPr>
              <a:defRPr sz="569"/>
            </a:lvl6pPr>
            <a:lvl7pPr>
              <a:defRPr sz="569"/>
            </a:lvl7pPr>
            <a:lvl8pPr>
              <a:defRPr sz="569"/>
            </a:lvl8pPr>
            <a:lvl9pPr>
              <a:defRPr sz="885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885"/>
            </a:lvl1pPr>
            <a:lvl2pPr>
              <a:defRPr sz="759"/>
            </a:lvl2pPr>
            <a:lvl3pPr>
              <a:defRPr sz="632"/>
            </a:lvl3pPr>
            <a:lvl4pPr>
              <a:defRPr sz="569"/>
            </a:lvl4pPr>
            <a:lvl5pPr>
              <a:defRPr sz="569"/>
            </a:lvl5pPr>
            <a:lvl6pPr>
              <a:defRPr sz="569"/>
            </a:lvl6pPr>
            <a:lvl7pPr>
              <a:defRPr sz="569"/>
            </a:lvl7pPr>
            <a:lvl8pPr>
              <a:defRPr sz="569"/>
            </a:lvl8pPr>
            <a:lvl9pPr>
              <a:defRPr sz="885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A27A1F4E-0809-4239-8034-C38E431DAF92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5E0DA496-7307-4E8B-88DE-CB97B48BAB6F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pPr lvl="0">
              <a:defRPr/>
            </a:pPr>
            <a:r>
              <a:rPr lang="ko-KR" altLang="en-US"/>
              <a:t>표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58721E90-850C-410B-8B89-8394F580CFDA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759"/>
            </a:lvl1pPr>
            <a:lvl2pPr>
              <a:defRPr sz="632"/>
            </a:lvl2pPr>
            <a:lvl3pPr>
              <a:defRPr sz="569"/>
            </a:lvl3pPr>
            <a:lvl4pPr>
              <a:defRPr sz="506"/>
            </a:lvl4pPr>
            <a:lvl5pPr>
              <a:defRPr sz="506"/>
            </a:lvl5pPr>
            <a:lvl6pPr>
              <a:defRPr sz="506"/>
            </a:lvl6pPr>
            <a:lvl7pPr>
              <a:defRPr sz="506"/>
            </a:lvl7pPr>
            <a:lvl8pPr>
              <a:defRPr sz="506"/>
            </a:lvl8pPr>
            <a:lvl9pPr>
              <a:defRPr sz="506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759"/>
            </a:lvl1pPr>
            <a:lvl2pPr>
              <a:defRPr sz="632"/>
            </a:lvl2pPr>
            <a:lvl3pPr>
              <a:defRPr sz="569"/>
            </a:lvl3pPr>
            <a:lvl4pPr>
              <a:defRPr sz="506"/>
            </a:lvl4pPr>
            <a:lvl5pPr>
              <a:defRPr sz="506"/>
            </a:lvl5pPr>
            <a:lvl6pPr>
              <a:defRPr sz="506"/>
            </a:lvl6pPr>
            <a:lvl7pPr>
              <a:defRPr sz="506"/>
            </a:lvl7pPr>
            <a:lvl8pPr>
              <a:defRPr sz="506"/>
            </a:lvl8pPr>
            <a:lvl9pPr>
              <a:defRPr sz="506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759"/>
            </a:lvl1pPr>
            <a:lvl2pPr>
              <a:defRPr sz="632"/>
            </a:lvl2pPr>
            <a:lvl3pPr>
              <a:defRPr sz="569"/>
            </a:lvl3pPr>
            <a:lvl4pPr>
              <a:defRPr sz="506"/>
            </a:lvl4pPr>
            <a:lvl5pPr>
              <a:defRPr sz="506"/>
            </a:lvl5pPr>
            <a:lvl6pPr>
              <a:defRPr sz="506"/>
            </a:lvl6pPr>
            <a:lvl7pPr>
              <a:defRPr sz="506"/>
            </a:lvl7pPr>
            <a:lvl8pPr>
              <a:defRPr sz="506"/>
            </a:lvl8pPr>
            <a:lvl9pPr>
              <a:defRPr sz="506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759"/>
            </a:lvl1pPr>
            <a:lvl2pPr>
              <a:defRPr sz="632"/>
            </a:lvl2pPr>
            <a:lvl3pPr>
              <a:defRPr sz="569"/>
            </a:lvl3pPr>
            <a:lvl4pPr>
              <a:defRPr sz="506"/>
            </a:lvl4pPr>
            <a:lvl5pPr>
              <a:defRPr sz="506"/>
            </a:lvl5pPr>
            <a:lvl6pPr>
              <a:defRPr sz="506"/>
            </a:lvl6pPr>
            <a:lvl7pPr>
              <a:defRPr sz="506"/>
            </a:lvl7pPr>
            <a:lvl8pPr>
              <a:defRPr sz="506"/>
            </a:lvl8pPr>
            <a:lvl9pPr>
              <a:defRPr sz="506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5ACE7E28-9336-4363-8674-B91477D8F243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632" b="1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1012"/>
            </a:lvl1pPr>
            <a:lvl2pPr marL="457200" indent="0">
              <a:buNone/>
              <a:defRPr sz="885"/>
            </a:lvl2pPr>
            <a:lvl3pPr marL="914400" indent="0">
              <a:buNone/>
              <a:defRPr sz="759"/>
            </a:lvl3pPr>
            <a:lvl4pPr marL="1371600" indent="0">
              <a:buNone/>
              <a:defRPr sz="632"/>
            </a:lvl4pPr>
            <a:lvl5pPr marL="1828800" indent="0">
              <a:buNone/>
              <a:defRPr sz="632"/>
            </a:lvl5pPr>
            <a:lvl6pPr marL="2286000" indent="0">
              <a:buNone/>
              <a:defRPr sz="632"/>
            </a:lvl6pPr>
            <a:lvl7pPr marL="2743200" indent="0">
              <a:buNone/>
              <a:defRPr sz="632"/>
            </a:lvl7pPr>
            <a:lvl8pPr marL="3200400" indent="0">
              <a:buNone/>
              <a:defRPr sz="632"/>
            </a:lvl8pPr>
            <a:lvl9pPr marL="3657600" indent="0">
              <a:buNone/>
              <a:defRPr sz="632"/>
            </a:lvl9pPr>
          </a:lstStyle>
          <a:p>
            <a:pPr lvl="0">
              <a:defRPr/>
            </a:pPr>
            <a:r>
              <a:rPr lang="ko-KR" altLang="en-US"/>
              <a:t>그림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442"/>
            </a:lvl1pPr>
            <a:lvl2pPr marL="457200" indent="0">
              <a:buNone/>
              <a:defRPr sz="379"/>
            </a:lvl2pPr>
            <a:lvl3pPr marL="914400" indent="0">
              <a:buNone/>
              <a:defRPr sz="316"/>
            </a:lvl3pPr>
            <a:lvl4pPr marL="1371600" indent="0">
              <a:buNone/>
              <a:defRPr sz="284"/>
            </a:lvl4pPr>
            <a:lvl5pPr marL="1828800" indent="0">
              <a:buNone/>
              <a:defRPr sz="284"/>
            </a:lvl5pPr>
            <a:lvl6pPr marL="2286000" indent="0">
              <a:buNone/>
              <a:defRPr sz="284"/>
            </a:lvl6pPr>
            <a:lvl7pPr marL="2743200" indent="0">
              <a:buNone/>
              <a:defRPr sz="284"/>
            </a:lvl7pPr>
            <a:lvl8pPr marL="3200400" indent="0">
              <a:buNone/>
              <a:defRPr sz="284"/>
            </a:lvl8pPr>
            <a:lvl9pPr marL="3657600" indent="0">
              <a:buNone/>
              <a:defRPr sz="284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5ACE7E28-9336-4363-8674-B91477D8F243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1392" b="1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CA348888-F454-4AD2-BA62-3AF29D9807C0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759"/>
            </a:lvl1pPr>
          </a:lstStyle>
          <a:p>
            <a:pPr lvl="0">
              <a:defRPr/>
            </a:pPr>
            <a:r>
              <a:rPr lang="ko-KR" altLang="en-US"/>
              <a:t>첫째 목차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둘째 목차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셋째 목차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넷째 목차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956FEC12-A4C9-4837-AF94-AD867782C04C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957F84A3-4F29-4053-ACFD-1BAF2D3F140C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3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3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3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1392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1012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885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759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632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632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632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632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632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6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56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569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569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569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569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569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569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569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56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1.png"  /><Relationship Id="rId3" Type="http://schemas.openxmlformats.org/officeDocument/2006/relationships/image" Target="../media/image1.png"  /><Relationship Id="rId4" Type="http://schemas.openxmlformats.org/officeDocument/2006/relationships/image" Target="../media/image1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rcRect b="58910"/>
          <a:stretch>
            <a:fillRect/>
          </a:stretch>
        </p:blipFill>
        <p:spPr>
          <a:xfrm>
            <a:off x="420683" y="840051"/>
            <a:ext cx="3438726" cy="5679837"/>
          </a:xfrm>
          <a:prstGeom prst="rect">
            <a:avLst/>
          </a:prstGeom>
        </p:spPr>
      </p:pic>
      <p:sp>
        <p:nvSpPr>
          <p:cNvPr id="6" name="가로 글상자 5"/>
          <p:cNvSpPr txBox="1"/>
          <p:nvPr/>
        </p:nvSpPr>
        <p:spPr>
          <a:xfrm>
            <a:off x="205015" y="204305"/>
            <a:ext cx="2601612" cy="520071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800"/>
              <a:t>전체 </a:t>
            </a:r>
            <a:r>
              <a:rPr lang="en-US" altLang="ko-KR" sz="2800"/>
              <a:t>reference</a:t>
            </a:r>
            <a:endParaRPr lang="en-US" altLang="ko-KR" sz="280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t="41090" b="21700"/>
          <a:stretch>
            <a:fillRect/>
          </a:stretch>
        </p:blipFill>
        <p:spPr>
          <a:xfrm>
            <a:off x="4152371" y="840052"/>
            <a:ext cx="3438726" cy="5143499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4"/>
          <a:srcRect t="76830" b="-2240"/>
          <a:stretch>
            <a:fillRect/>
          </a:stretch>
        </p:blipFill>
        <p:spPr>
          <a:xfrm>
            <a:off x="7884061" y="840052"/>
            <a:ext cx="3438726" cy="351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159843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205015" y="204305"/>
            <a:ext cx="4030363" cy="517690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800"/>
              <a:t>전체 페이지 구조</a:t>
            </a:r>
            <a:endParaRPr lang="ko-KR" altLang="en-US" sz="2800"/>
          </a:p>
        </p:txBody>
      </p:sp>
      <p:grpSp>
        <p:nvGrpSpPr>
          <p:cNvPr id="21" name=""/>
          <p:cNvGrpSpPr/>
          <p:nvPr/>
        </p:nvGrpSpPr>
        <p:grpSpPr>
          <a:xfrm rot="0">
            <a:off x="3476149" y="656166"/>
            <a:ext cx="5239702" cy="5256920"/>
            <a:chOff x="3262312" y="656166"/>
            <a:chExt cx="5239702" cy="5256920"/>
          </a:xfrm>
        </p:grpSpPr>
        <p:sp>
          <p:nvSpPr>
            <p:cNvPr id="6" name="직사각형 5"/>
            <p:cNvSpPr/>
            <p:nvPr/>
          </p:nvSpPr>
          <p:spPr>
            <a:xfrm>
              <a:off x="3262312" y="656166"/>
              <a:ext cx="2178844" cy="1143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262312" y="1834885"/>
              <a:ext cx="2178844" cy="1143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3262312" y="2977885"/>
              <a:ext cx="2178844" cy="1143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3262312" y="4144697"/>
              <a:ext cx="2178844" cy="1143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262313" y="5311509"/>
              <a:ext cx="2178844" cy="60157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cxnSp>
          <p:nvCxnSpPr>
            <p:cNvPr id="11" name="화살표 10"/>
            <p:cNvCxnSpPr>
              <a:stCxn id="6" idx="3"/>
            </p:cNvCxnSpPr>
            <p:nvPr/>
          </p:nvCxnSpPr>
          <p:spPr>
            <a:xfrm>
              <a:off x="5441157" y="1227666"/>
              <a:ext cx="87373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가로 글상자 11"/>
            <p:cNvSpPr txBox="1"/>
            <p:nvPr/>
          </p:nvSpPr>
          <p:spPr>
            <a:xfrm>
              <a:off x="6314887" y="1107110"/>
              <a:ext cx="701228" cy="241113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0000"/>
              </a:solidFill>
            </a:ln>
          </p:spPr>
          <p:txBody>
            <a:bodyPr wrap="square">
              <a:spAutoFit/>
            </a:bodyPr>
            <a:p>
              <a:pPr lvl="0">
                <a:defRPr/>
              </a:pPr>
              <a:r>
                <a:rPr lang="en-US" altLang="ko-KR" sz="1000"/>
                <a:t>first page</a:t>
              </a:r>
              <a:endParaRPr lang="en-US" altLang="ko-KR" sz="1000"/>
            </a:p>
          </p:txBody>
        </p:sp>
        <p:cxnSp>
          <p:nvCxnSpPr>
            <p:cNvPr id="13" name="화살표 12"/>
            <p:cNvCxnSpPr/>
            <p:nvPr/>
          </p:nvCxnSpPr>
          <p:spPr>
            <a:xfrm>
              <a:off x="5441157" y="2388526"/>
              <a:ext cx="87373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가로 글상자 13"/>
            <p:cNvSpPr txBox="1"/>
            <p:nvPr/>
          </p:nvSpPr>
          <p:spPr>
            <a:xfrm>
              <a:off x="6314887" y="2267969"/>
              <a:ext cx="1348928" cy="241286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0000"/>
              </a:solidFill>
            </a:ln>
          </p:spPr>
          <p:txBody>
            <a:bodyPr wrap="square">
              <a:spAutoFit/>
            </a:bodyPr>
            <a:p>
              <a:pPr lvl="0">
                <a:defRPr/>
              </a:pPr>
              <a:r>
                <a:rPr lang="en-US" altLang="ko-KR" sz="1000"/>
                <a:t>Service - </a:t>
              </a:r>
              <a:r>
                <a:rPr lang="ko-KR" altLang="en-US" sz="1000"/>
                <a:t>서비스 소개</a:t>
              </a:r>
              <a:endParaRPr lang="ko-KR" altLang="en-US" sz="1000"/>
            </a:p>
          </p:txBody>
        </p:sp>
        <p:cxnSp>
          <p:nvCxnSpPr>
            <p:cNvPr id="15" name="화살표 14"/>
            <p:cNvCxnSpPr/>
            <p:nvPr/>
          </p:nvCxnSpPr>
          <p:spPr>
            <a:xfrm>
              <a:off x="5441157" y="3549558"/>
              <a:ext cx="87373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가로 글상자 15"/>
            <p:cNvSpPr txBox="1"/>
            <p:nvPr/>
          </p:nvSpPr>
          <p:spPr>
            <a:xfrm>
              <a:off x="6314887" y="3429000"/>
              <a:ext cx="1729928" cy="242305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0000"/>
              </a:solidFill>
            </a:ln>
          </p:spPr>
          <p:txBody>
            <a:bodyPr wrap="square">
              <a:spAutoFit/>
            </a:bodyPr>
            <a:p>
              <a:pPr lvl="0">
                <a:defRPr/>
              </a:pPr>
              <a:r>
                <a:rPr lang="en-US" altLang="ko-KR" sz="1000"/>
                <a:t>Character - Nyxi </a:t>
              </a:r>
              <a:r>
                <a:rPr lang="ko-KR" altLang="en-US" sz="1000"/>
                <a:t>캐릭터 소개</a:t>
              </a:r>
              <a:endParaRPr lang="ko-KR" altLang="en-US" sz="1000"/>
            </a:p>
          </p:txBody>
        </p:sp>
        <p:cxnSp>
          <p:nvCxnSpPr>
            <p:cNvPr id="17" name="화살표 16"/>
            <p:cNvCxnSpPr/>
            <p:nvPr/>
          </p:nvCxnSpPr>
          <p:spPr>
            <a:xfrm>
              <a:off x="5441157" y="4711608"/>
              <a:ext cx="87373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가로 글상자 17"/>
            <p:cNvSpPr txBox="1"/>
            <p:nvPr/>
          </p:nvSpPr>
          <p:spPr>
            <a:xfrm>
              <a:off x="6314887" y="4591050"/>
              <a:ext cx="1253678" cy="242305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0000"/>
              </a:solidFill>
            </a:ln>
          </p:spPr>
          <p:txBody>
            <a:bodyPr wrap="square">
              <a:spAutoFit/>
            </a:bodyPr>
            <a:p>
              <a:pPr lvl="0">
                <a:defRPr/>
              </a:pPr>
              <a:r>
                <a:rPr lang="en-US" altLang="ko-KR" sz="1000"/>
                <a:t>Contact - </a:t>
              </a:r>
              <a:r>
                <a:rPr lang="ko-KR" altLang="en-US" sz="1000"/>
                <a:t>문의 메일</a:t>
              </a:r>
              <a:endParaRPr lang="ko-KR" altLang="en-US" sz="1000"/>
            </a:p>
          </p:txBody>
        </p:sp>
        <p:cxnSp>
          <p:nvCxnSpPr>
            <p:cNvPr id="19" name="화살표 18"/>
            <p:cNvCxnSpPr/>
            <p:nvPr/>
          </p:nvCxnSpPr>
          <p:spPr>
            <a:xfrm>
              <a:off x="5441157" y="5612298"/>
              <a:ext cx="87373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가로 글상자 19"/>
            <p:cNvSpPr txBox="1"/>
            <p:nvPr/>
          </p:nvSpPr>
          <p:spPr>
            <a:xfrm>
              <a:off x="6314887" y="5491740"/>
              <a:ext cx="2187128" cy="236965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0000"/>
              </a:solidFill>
            </a:ln>
          </p:spPr>
          <p:txBody>
            <a:bodyPr wrap="square">
              <a:spAutoFit/>
            </a:bodyPr>
            <a:p>
              <a:pPr lvl="0">
                <a:defRPr/>
              </a:pPr>
              <a:r>
                <a:rPr lang="ko-KR" altLang="en-US" sz="1000"/>
                <a:t>바텀</a:t>
              </a:r>
              <a:r>
                <a:rPr lang="en-US" altLang="ko-KR" sz="1000"/>
                <a:t>(</a:t>
              </a:r>
              <a:r>
                <a:rPr lang="ko-KR" altLang="en-US" sz="1000"/>
                <a:t>저작권 및 개발자 연락처 정보</a:t>
              </a:r>
              <a:r>
                <a:rPr lang="en-US" altLang="ko-KR" sz="1000"/>
                <a:t>)</a:t>
              </a:r>
              <a:endParaRPr lang="en-US" altLang="ko-KR" sz="1000"/>
            </a:p>
          </p:txBody>
        </p:sp>
      </p:grpSp>
    </p:spTree>
    <p:extLst>
      <p:ext uri="{BB962C8B-B14F-4D97-AF65-F5344CB8AC3E}">
        <p14:creationId xmlns:p14="http://schemas.microsoft.com/office/powerpoint/2010/main" val="2689129123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205015" y="204305"/>
            <a:ext cx="4030363" cy="520071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2800"/>
              <a:t>main -&gt; first -&gt; reference</a:t>
            </a:r>
            <a:endParaRPr lang="en-US" altLang="ko-KR" sz="280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rcRect b="88160"/>
          <a:stretch>
            <a:fillRect/>
          </a:stretch>
        </p:blipFill>
        <p:spPr>
          <a:xfrm>
            <a:off x="130777" y="959115"/>
            <a:ext cx="11930444" cy="56798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205015" y="204305"/>
            <a:ext cx="4192288" cy="517690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2800"/>
              <a:t>main -&gt; first -&gt; </a:t>
            </a:r>
            <a:r>
              <a:rPr lang="ko-KR" altLang="en-US" sz="2800"/>
              <a:t>수정 사항</a:t>
            </a:r>
            <a:r>
              <a:rPr lang="en-US" altLang="ko-KR" sz="2800"/>
              <a:t>(1)</a:t>
            </a:r>
            <a:endParaRPr lang="en-US" altLang="ko-KR" sz="280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rcRect b="88160"/>
          <a:stretch>
            <a:fillRect/>
          </a:stretch>
        </p:blipFill>
        <p:spPr>
          <a:xfrm>
            <a:off x="130777" y="959115"/>
            <a:ext cx="11930444" cy="5679837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92906" y="1160859"/>
            <a:ext cx="2095500" cy="690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cxnSp>
        <p:nvCxnSpPr>
          <p:cNvPr id="7" name="화살표 6"/>
          <p:cNvCxnSpPr>
            <a:stCxn id="6" idx="3"/>
            <a:endCxn id="8" idx="1"/>
          </p:cNvCxnSpPr>
          <p:nvPr/>
        </p:nvCxnSpPr>
        <p:spPr>
          <a:xfrm flipV="1">
            <a:off x="2488406" y="609946"/>
            <a:ext cx="2074933" cy="89619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가로 글상자 7"/>
          <p:cNvSpPr txBox="1"/>
          <p:nvPr/>
        </p:nvSpPr>
        <p:spPr>
          <a:xfrm>
            <a:off x="4563340" y="259772"/>
            <a:ext cx="4198770" cy="700348"/>
          </a:xfrm>
          <a:prstGeom prst="rect">
            <a:avLst/>
          </a:prstGeom>
          <a:solidFill>
            <a:srgbClr val="ffffff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1000"/>
              <a:t>로고 필요</a:t>
            </a:r>
            <a:endParaRPr lang="ko-KR" altLang="en-US" sz="1000"/>
          </a:p>
          <a:p>
            <a:pPr lvl="0">
              <a:defRPr/>
            </a:pPr>
            <a:endParaRPr lang="ko-KR" altLang="en-US" sz="1000"/>
          </a:p>
          <a:p>
            <a:pPr lvl="0">
              <a:defRPr/>
            </a:pPr>
            <a:r>
              <a:rPr lang="en-US" altLang="ko-KR" sz="1000"/>
              <a:t>-</a:t>
            </a:r>
            <a:r>
              <a:rPr lang="ko-KR" altLang="en-US" sz="1000"/>
              <a:t> </a:t>
            </a:r>
            <a:r>
              <a:rPr lang="en-US" altLang="ko-KR" sz="1000"/>
              <a:t>Nyxi</a:t>
            </a:r>
            <a:r>
              <a:rPr lang="ko-KR" altLang="en-US" sz="1000"/>
              <a:t>의 머리때의 초승달을 활용한 로고를 외부 </a:t>
            </a:r>
            <a:r>
              <a:rPr lang="en-US" altLang="ko-KR" sz="1000"/>
              <a:t>AI</a:t>
            </a:r>
            <a:r>
              <a:rPr lang="ko-KR" altLang="en-US" sz="1000"/>
              <a:t>를 활용해 사용할 예정</a:t>
            </a:r>
            <a:endParaRPr lang="ko-KR" altLang="en-US" sz="1000"/>
          </a:p>
          <a:p>
            <a:pPr lvl="0">
              <a:defRPr/>
            </a:pPr>
            <a:r>
              <a:rPr lang="en-US" altLang="ko-KR" sz="1000"/>
              <a:t>-</a:t>
            </a:r>
            <a:r>
              <a:rPr lang="ko-KR" altLang="en-US" sz="1000"/>
              <a:t> 왼쪽의 글씨는 </a:t>
            </a:r>
            <a:r>
              <a:rPr lang="en-US" altLang="ko-KR" sz="1000"/>
              <a:t>‘Studio Nx’</a:t>
            </a:r>
            <a:r>
              <a:rPr lang="ko-KR" altLang="en-US" sz="1000"/>
              <a:t>로 고침</a:t>
            </a:r>
            <a:r>
              <a:rPr lang="en-US" altLang="ko-KR" sz="1000"/>
              <a:t>.</a:t>
            </a:r>
            <a:endParaRPr lang="ko-KR" altLang="en-US" sz="1000"/>
          </a:p>
        </p:txBody>
      </p:sp>
      <p:grpSp>
        <p:nvGrpSpPr>
          <p:cNvPr id="11" name=""/>
          <p:cNvGrpSpPr/>
          <p:nvPr/>
        </p:nvGrpSpPr>
        <p:grpSpPr>
          <a:xfrm rot="0">
            <a:off x="5796179" y="1377336"/>
            <a:ext cx="4649932" cy="971250"/>
            <a:chOff x="5796179" y="1377336"/>
            <a:chExt cx="4649932" cy="971250"/>
          </a:xfrm>
        </p:grpSpPr>
        <p:sp>
          <p:nvSpPr>
            <p:cNvPr id="9" name="직사각형 8"/>
            <p:cNvSpPr/>
            <p:nvPr/>
          </p:nvSpPr>
          <p:spPr>
            <a:xfrm>
              <a:off x="5796179" y="1377336"/>
              <a:ext cx="4649932" cy="257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cxnSp>
          <p:nvCxnSpPr>
            <p:cNvPr id="10" name="화살표 9"/>
            <p:cNvCxnSpPr>
              <a:stCxn id="9" idx="2"/>
            </p:cNvCxnSpPr>
            <p:nvPr/>
          </p:nvCxnSpPr>
          <p:spPr>
            <a:xfrm rot="16200000" flipH="1">
              <a:off x="7764325" y="1991766"/>
              <a:ext cx="713642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가로 글상자 11"/>
          <p:cNvSpPr txBox="1"/>
          <p:nvPr/>
        </p:nvSpPr>
        <p:spPr>
          <a:xfrm>
            <a:off x="6021760" y="2348587"/>
            <a:ext cx="4198770" cy="2069108"/>
          </a:xfrm>
          <a:prstGeom prst="rect">
            <a:avLst/>
          </a:prstGeom>
          <a:solidFill>
            <a:srgbClr val="ffffff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1000"/>
              <a:t>아래의 앵커로서 활용</a:t>
            </a:r>
            <a:r>
              <a:rPr lang="en-US" altLang="ko-KR" sz="1000"/>
              <a:t>.</a:t>
            </a:r>
            <a:r>
              <a:rPr lang="ko-KR" altLang="en-US" sz="1000"/>
              <a:t> 클릭하면 아래의 앵커로 자동 스크롤됨</a:t>
            </a:r>
            <a:r>
              <a:rPr lang="en-US" altLang="ko-KR" sz="1000"/>
              <a:t>.</a:t>
            </a:r>
            <a:endParaRPr lang="en-US" altLang="ko-KR" sz="1000"/>
          </a:p>
          <a:p>
            <a:pPr lvl="0">
              <a:defRPr/>
            </a:pPr>
            <a:endParaRPr lang="en-US" altLang="ko-KR" sz="1000"/>
          </a:p>
          <a:p>
            <a:pPr lvl="0">
              <a:defRPr/>
            </a:pPr>
            <a:r>
              <a:rPr lang="ko-KR" altLang="en-US" sz="1000"/>
              <a:t>해당 화면 아래의 내용은 다음과 같이 구성될 것이다</a:t>
            </a:r>
            <a:r>
              <a:rPr lang="en-US" altLang="ko-KR" sz="1000"/>
              <a:t>.</a:t>
            </a:r>
            <a:endParaRPr lang="en-US" altLang="ko-KR" sz="1000"/>
          </a:p>
          <a:p>
            <a:pPr lvl="0">
              <a:defRPr/>
            </a:pPr>
            <a:endParaRPr lang="en-US" altLang="ko-KR" sz="1000"/>
          </a:p>
          <a:p>
            <a:pPr lvl="0">
              <a:defRPr/>
            </a:pPr>
            <a:r>
              <a:rPr lang="en-US" altLang="ko-KR" sz="1000"/>
              <a:t>1)</a:t>
            </a:r>
            <a:r>
              <a:rPr lang="ko-KR" altLang="en-US" sz="1000"/>
              <a:t> 서비스 소개</a:t>
            </a:r>
            <a:r>
              <a:rPr lang="en-US" altLang="ko-KR" sz="1000"/>
              <a:t>(Service)</a:t>
            </a:r>
            <a:endParaRPr lang="en-US" altLang="ko-KR" sz="1000"/>
          </a:p>
          <a:p>
            <a:pPr lvl="0">
              <a:defRPr/>
            </a:pPr>
            <a:r>
              <a:rPr lang="en-US" altLang="ko-KR" sz="1000"/>
              <a:t>2) </a:t>
            </a:r>
            <a:r>
              <a:rPr lang="ko-KR" altLang="en-US" sz="1000"/>
              <a:t>캐릭터 </a:t>
            </a:r>
            <a:r>
              <a:rPr lang="en-US" altLang="ko-KR" sz="1000"/>
              <a:t>Nyxi</a:t>
            </a:r>
            <a:r>
              <a:rPr lang="ko-KR" altLang="en-US" sz="1000"/>
              <a:t> 소개</a:t>
            </a:r>
            <a:r>
              <a:rPr lang="en-US" altLang="ko-KR" sz="1000"/>
              <a:t>(Character)</a:t>
            </a:r>
            <a:endParaRPr lang="en-US" altLang="ko-KR" sz="1000"/>
          </a:p>
          <a:p>
            <a:pPr lvl="0">
              <a:defRPr/>
            </a:pPr>
            <a:r>
              <a:rPr lang="en-US" altLang="ko-KR" sz="1000"/>
              <a:t>3) </a:t>
            </a:r>
            <a:r>
              <a:rPr lang="ko-KR" altLang="en-US" sz="1000"/>
              <a:t>기능</a:t>
            </a:r>
            <a:r>
              <a:rPr lang="en-US" altLang="ko-KR" sz="1000"/>
              <a:t>(feature)</a:t>
            </a:r>
            <a:endParaRPr lang="en-US" altLang="ko-KR" sz="1000"/>
          </a:p>
          <a:p>
            <a:pPr lvl="0">
              <a:defRPr/>
            </a:pPr>
            <a:r>
              <a:rPr lang="en-US" altLang="ko-KR" sz="1000"/>
              <a:t>4)</a:t>
            </a:r>
            <a:r>
              <a:rPr lang="ko-KR" altLang="en-US" sz="1000"/>
              <a:t> 개발자 노트</a:t>
            </a:r>
            <a:r>
              <a:rPr lang="en-US" altLang="ko-KR" sz="1000"/>
              <a:t>(Development)</a:t>
            </a:r>
            <a:endParaRPr lang="en-US" altLang="ko-KR" sz="1000"/>
          </a:p>
          <a:p>
            <a:pPr lvl="0">
              <a:defRPr/>
            </a:pPr>
            <a:r>
              <a:rPr lang="en-US" altLang="ko-KR" sz="1000"/>
              <a:t>5)</a:t>
            </a:r>
            <a:r>
              <a:rPr lang="ko-KR" altLang="en-US" sz="1000"/>
              <a:t> 문의</a:t>
            </a:r>
            <a:r>
              <a:rPr lang="en-US" altLang="ko-KR" sz="1000"/>
              <a:t>(Contact)</a:t>
            </a:r>
            <a:endParaRPr lang="en-US" altLang="ko-KR" sz="1000"/>
          </a:p>
          <a:p>
            <a:pPr lvl="0">
              <a:defRPr/>
            </a:pPr>
            <a:r>
              <a:rPr lang="en-US" altLang="ko-KR" sz="1000"/>
              <a:t>6)</a:t>
            </a:r>
            <a:r>
              <a:rPr lang="ko-KR" altLang="en-US" sz="1000"/>
              <a:t> </a:t>
            </a:r>
            <a:r>
              <a:rPr lang="en-US" altLang="ko-KR" sz="1000"/>
              <a:t>&lt;</a:t>
            </a:r>
            <a:r>
              <a:rPr lang="ko-KR" altLang="en-US" sz="1000"/>
              <a:t>앵커 </a:t>
            </a:r>
            <a:r>
              <a:rPr lang="en-US" altLang="ko-KR" sz="1000"/>
              <a:t>X&gt; </a:t>
            </a:r>
            <a:r>
              <a:rPr lang="ko-KR" altLang="en-US" sz="1000"/>
              <a:t>바텀</a:t>
            </a:r>
            <a:r>
              <a:rPr lang="en-US" altLang="ko-KR" sz="1000"/>
              <a:t>(</a:t>
            </a:r>
            <a:r>
              <a:rPr lang="ko-KR" altLang="en-US" sz="1000"/>
              <a:t>연락처 및 저작권 등</a:t>
            </a:r>
            <a:r>
              <a:rPr lang="en-US" altLang="ko-KR" sz="1000"/>
              <a:t>)</a:t>
            </a:r>
            <a:endParaRPr lang="en-US" altLang="ko-KR" sz="1000"/>
          </a:p>
          <a:p>
            <a:pPr lvl="0">
              <a:defRPr/>
            </a:pPr>
            <a:endParaRPr lang="en-US" altLang="ko-KR" sz="1000"/>
          </a:p>
          <a:p>
            <a:pPr lvl="0">
              <a:defRPr/>
            </a:pPr>
            <a:r>
              <a:rPr lang="ko-KR" altLang="en-US" sz="1000"/>
              <a:t>이후 두 번째 페이지부터는 앵커는 각 제목의 첫 글자를 따서</a:t>
            </a:r>
            <a:r>
              <a:rPr lang="en-US" altLang="ko-KR" sz="1000"/>
              <a:t>(</a:t>
            </a:r>
            <a:r>
              <a:rPr lang="ko-KR" altLang="en-US" sz="1000"/>
              <a:t>같으면 두 번째까지</a:t>
            </a:r>
            <a:r>
              <a:rPr lang="en-US" altLang="ko-KR" sz="1000"/>
              <a:t>)</a:t>
            </a:r>
            <a:r>
              <a:rPr lang="ko-KR" altLang="en-US" sz="1000"/>
              <a:t> </a:t>
            </a:r>
            <a:r>
              <a:rPr lang="en-US" altLang="ko-KR" sz="1000"/>
              <a:t>S, Ch, F, D, Co</a:t>
            </a:r>
            <a:r>
              <a:rPr lang="ko-KR" altLang="en-US" sz="1000"/>
              <a:t>를 세로로 노란색의 네모 위치에 놓을 것</a:t>
            </a:r>
            <a:r>
              <a:rPr lang="en-US" altLang="ko-KR" sz="1000"/>
              <a:t>.</a:t>
            </a:r>
            <a:endParaRPr lang="en-US" altLang="ko-KR" sz="1000"/>
          </a:p>
        </p:txBody>
      </p:sp>
      <p:grpSp>
        <p:nvGrpSpPr>
          <p:cNvPr id="13" name="그룹 12"/>
          <p:cNvGrpSpPr/>
          <p:nvPr/>
        </p:nvGrpSpPr>
        <p:grpSpPr>
          <a:xfrm rot="0">
            <a:off x="10597899" y="1377336"/>
            <a:ext cx="1086462" cy="933563"/>
            <a:chOff x="5796179" y="1377336"/>
            <a:chExt cx="1086462" cy="933563"/>
          </a:xfrm>
        </p:grpSpPr>
        <p:sp>
          <p:nvSpPr>
            <p:cNvPr id="14" name="직사각형 8"/>
            <p:cNvSpPr/>
            <p:nvPr/>
          </p:nvSpPr>
          <p:spPr>
            <a:xfrm>
              <a:off x="5796179" y="1377336"/>
              <a:ext cx="1086462" cy="257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cxnSp>
          <p:nvCxnSpPr>
            <p:cNvPr id="15" name="화살표 9"/>
            <p:cNvCxnSpPr>
              <a:stCxn id="14" idx="2"/>
            </p:cNvCxnSpPr>
            <p:nvPr/>
          </p:nvCxnSpPr>
          <p:spPr>
            <a:xfrm rot="16200000" flipH="1">
              <a:off x="6001429" y="1972922"/>
              <a:ext cx="675955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가로 글상자 15"/>
          <p:cNvSpPr txBox="1"/>
          <p:nvPr/>
        </p:nvSpPr>
        <p:spPr>
          <a:xfrm>
            <a:off x="10445280" y="2348587"/>
            <a:ext cx="1503754" cy="697508"/>
          </a:xfrm>
          <a:prstGeom prst="rect">
            <a:avLst/>
          </a:prstGeom>
          <a:solidFill>
            <a:srgbClr val="ffffff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1000"/>
              <a:t>버튼을 두 개로 함</a:t>
            </a:r>
            <a:r>
              <a:rPr lang="en-US" altLang="ko-KR" sz="1000"/>
              <a:t>.</a:t>
            </a:r>
            <a:endParaRPr lang="en-US" altLang="ko-KR" sz="1000"/>
          </a:p>
          <a:p>
            <a:pPr lvl="0">
              <a:defRPr/>
            </a:pPr>
            <a:endParaRPr lang="en-US" altLang="ko-KR" sz="1000"/>
          </a:p>
          <a:p>
            <a:pPr lvl="0">
              <a:defRPr/>
            </a:pPr>
            <a:r>
              <a:rPr lang="en-US" altLang="ko-KR" sz="1000"/>
              <a:t>:</a:t>
            </a:r>
            <a:r>
              <a:rPr lang="ko-KR" altLang="en-US" sz="1000"/>
              <a:t> </a:t>
            </a:r>
            <a:r>
              <a:rPr lang="en-US" altLang="ko-KR" sz="1000"/>
              <a:t>Sign In -</a:t>
            </a:r>
            <a:r>
              <a:rPr lang="ko-KR" altLang="en-US" sz="1000"/>
              <a:t> 로그인 화면</a:t>
            </a:r>
            <a:endParaRPr lang="ko-KR" altLang="en-US" sz="1000"/>
          </a:p>
          <a:p>
            <a:pPr lvl="0">
              <a:defRPr/>
            </a:pPr>
            <a:r>
              <a:rPr lang="en-US" altLang="ko-KR" sz="1000"/>
              <a:t>:</a:t>
            </a:r>
            <a:r>
              <a:rPr lang="ko-KR" altLang="en-US" sz="1000"/>
              <a:t> </a:t>
            </a:r>
            <a:r>
              <a:rPr lang="en-US" altLang="ko-KR" sz="1000"/>
              <a:t>Join Us - </a:t>
            </a:r>
            <a:r>
              <a:rPr lang="ko-KR" altLang="en-US" sz="1000"/>
              <a:t>회원가입 화면</a:t>
            </a:r>
            <a:endParaRPr lang="ko-KR" altLang="en-US" sz="1000"/>
          </a:p>
        </p:txBody>
      </p:sp>
      <p:grpSp>
        <p:nvGrpSpPr>
          <p:cNvPr id="18" name="그룹 17"/>
          <p:cNvGrpSpPr/>
          <p:nvPr/>
        </p:nvGrpSpPr>
        <p:grpSpPr>
          <a:xfrm rot="0">
            <a:off x="1528979" y="2052161"/>
            <a:ext cx="4567021" cy="4200957"/>
            <a:chOff x="5796179" y="1377336"/>
            <a:chExt cx="4567021" cy="4200957"/>
          </a:xfrm>
        </p:grpSpPr>
        <p:sp>
          <p:nvSpPr>
            <p:cNvPr id="19" name="직사각형 8"/>
            <p:cNvSpPr/>
            <p:nvPr/>
          </p:nvSpPr>
          <p:spPr>
            <a:xfrm>
              <a:off x="5796179" y="1377336"/>
              <a:ext cx="3234386" cy="420095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cxnSp>
          <p:nvCxnSpPr>
            <p:cNvPr id="20" name="화살표 9"/>
            <p:cNvCxnSpPr>
              <a:stCxn id="19" idx="3"/>
            </p:cNvCxnSpPr>
            <p:nvPr/>
          </p:nvCxnSpPr>
          <p:spPr>
            <a:xfrm>
              <a:off x="9030564" y="3477814"/>
              <a:ext cx="1332636" cy="111468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가로 글상자 20"/>
          <p:cNvSpPr txBox="1"/>
          <p:nvPr/>
        </p:nvSpPr>
        <p:spPr>
          <a:xfrm>
            <a:off x="6096000" y="4524685"/>
            <a:ext cx="4456505" cy="1302710"/>
          </a:xfrm>
          <a:prstGeom prst="rect">
            <a:avLst/>
          </a:prstGeom>
          <a:solidFill>
            <a:srgbClr val="ffffff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1000"/>
              <a:t>해당 서비스에 맞는 영어 카피</a:t>
            </a:r>
            <a:endParaRPr lang="ko-KR" altLang="en-US" sz="1000"/>
          </a:p>
          <a:p>
            <a:pPr lvl="0">
              <a:defRPr/>
            </a:pPr>
            <a:endParaRPr lang="ko-KR" altLang="en-US" sz="1000"/>
          </a:p>
          <a:p>
            <a:pPr lvl="0">
              <a:defRPr/>
            </a:pPr>
            <a:r>
              <a:rPr lang="ko-KR" altLang="en-US" sz="1000"/>
              <a:t>제일 큰 거 </a:t>
            </a:r>
            <a:r>
              <a:rPr lang="en-US" altLang="ko-KR" sz="1000"/>
              <a:t>-</a:t>
            </a:r>
            <a:r>
              <a:rPr lang="ko-KR" altLang="en-US" sz="1000"/>
              <a:t> 짧고</a:t>
            </a:r>
            <a:r>
              <a:rPr lang="en-US" altLang="ko-KR" sz="1000"/>
              <a:t>,</a:t>
            </a:r>
            <a:r>
              <a:rPr lang="ko-KR" altLang="en-US" sz="1000"/>
              <a:t> 간결하지만</a:t>
            </a:r>
            <a:r>
              <a:rPr lang="en-US" altLang="ko-KR" sz="1000"/>
              <a:t>,</a:t>
            </a:r>
            <a:r>
              <a:rPr lang="ko-KR" altLang="en-US" sz="1000"/>
              <a:t> 핵심을 찌르는 ㅂ내용</a:t>
            </a:r>
            <a:endParaRPr lang="ko-KR" altLang="en-US" sz="1000"/>
          </a:p>
          <a:p>
            <a:pPr lvl="0">
              <a:defRPr/>
            </a:pPr>
            <a:r>
              <a:rPr lang="ko-KR" altLang="en-US" sz="1000"/>
              <a:t>작은 거 </a:t>
            </a:r>
            <a:r>
              <a:rPr lang="en-US" altLang="ko-KR" sz="1000"/>
              <a:t>-</a:t>
            </a:r>
            <a:r>
              <a:rPr lang="ko-KR" altLang="en-US" sz="1000"/>
              <a:t> 간단한 설명</a:t>
            </a:r>
            <a:endParaRPr lang="ko-KR" altLang="en-US" sz="1000"/>
          </a:p>
          <a:p>
            <a:pPr lvl="0">
              <a:defRPr/>
            </a:pPr>
            <a:endParaRPr lang="ko-KR" altLang="en-US" sz="1000"/>
          </a:p>
          <a:p>
            <a:pPr lvl="0">
              <a:defRPr/>
            </a:pPr>
            <a:r>
              <a:rPr lang="en-US" altLang="ko-KR" sz="1000"/>
              <a:t>(</a:t>
            </a:r>
            <a:r>
              <a:rPr lang="ko-KR" altLang="en-US" sz="1000"/>
              <a:t>레퍼런스의 일본어 문구는 일단 무시</a:t>
            </a:r>
            <a:r>
              <a:rPr lang="en-US" altLang="ko-KR" sz="1000"/>
              <a:t>)</a:t>
            </a:r>
            <a:endParaRPr lang="en-US" altLang="ko-KR" sz="1000"/>
          </a:p>
          <a:p>
            <a:pPr lvl="0">
              <a:defRPr/>
            </a:pPr>
            <a:endParaRPr lang="ko-KR" altLang="en-US" sz="1000"/>
          </a:p>
          <a:p>
            <a:pPr lvl="0">
              <a:defRPr/>
            </a:pPr>
            <a:r>
              <a:rPr lang="ko-KR" altLang="en-US" sz="1000"/>
              <a:t>배치 변경 필요</a:t>
            </a:r>
            <a:r>
              <a:rPr lang="en-US" altLang="ko-KR" sz="1000"/>
              <a:t>(</a:t>
            </a:r>
            <a:r>
              <a:rPr lang="ko-KR" altLang="en-US" sz="1000"/>
              <a:t>방식은 아래에 후술</a:t>
            </a:r>
            <a:r>
              <a:rPr lang="en-US" altLang="ko-KR" sz="1000"/>
              <a:t>)</a:t>
            </a:r>
            <a:endParaRPr lang="en-US" altLang="ko-KR" sz="1000"/>
          </a:p>
        </p:txBody>
      </p:sp>
      <p:sp>
        <p:nvSpPr>
          <p:cNvPr id="22" name="가로 글상자 21"/>
          <p:cNvSpPr txBox="1"/>
          <p:nvPr/>
        </p:nvSpPr>
        <p:spPr>
          <a:xfrm>
            <a:off x="11491978" y="3689482"/>
            <a:ext cx="384767" cy="1456424"/>
          </a:xfrm>
          <a:prstGeom prst="rect">
            <a:avLst/>
          </a:prstGeom>
          <a:solidFill>
            <a:srgbClr val="ffffff"/>
          </a:solidFill>
          <a:ln w="28575">
            <a:solidFill>
              <a:srgbClr val="ffff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en-US" altLang="ko-KR" sz="1000"/>
              <a:t>S</a:t>
            </a:r>
            <a:endParaRPr lang="en-US" altLang="ko-KR" sz="1000"/>
          </a:p>
          <a:p>
            <a:pPr lvl="0" algn="ctr">
              <a:defRPr/>
            </a:pPr>
            <a:r>
              <a:rPr lang="ko-KR" altLang="en-US" sz="1000"/>
              <a:t>ㅡ</a:t>
            </a:r>
            <a:endParaRPr lang="ko-KR" altLang="en-US" sz="1000"/>
          </a:p>
          <a:p>
            <a:pPr lvl="0" algn="ctr">
              <a:defRPr/>
            </a:pPr>
            <a:r>
              <a:rPr lang="en-US" altLang="ko-KR" sz="1000"/>
              <a:t>Ch</a:t>
            </a:r>
            <a:endParaRPr lang="en-US" altLang="ko-KR" sz="1000"/>
          </a:p>
          <a:p>
            <a:pPr lvl="0" algn="ctr">
              <a:defRPr/>
            </a:pPr>
            <a:r>
              <a:rPr lang="ko-KR" altLang="en-US" sz="1000"/>
              <a:t>ㅡ</a:t>
            </a:r>
            <a:endParaRPr lang="ko-KR" altLang="en-US" sz="1000"/>
          </a:p>
          <a:p>
            <a:pPr lvl="0" algn="ctr">
              <a:defRPr/>
            </a:pPr>
            <a:r>
              <a:rPr lang="en-US" altLang="ko-KR" sz="1000"/>
              <a:t>F</a:t>
            </a:r>
            <a:endParaRPr lang="en-US" altLang="ko-KR" sz="1000"/>
          </a:p>
          <a:p>
            <a:pPr lvl="0" algn="ctr">
              <a:defRPr/>
            </a:pPr>
            <a:r>
              <a:rPr lang="ko-KR" altLang="en-US" sz="1000"/>
              <a:t>ㅡ</a:t>
            </a:r>
            <a:endParaRPr lang="ko-KR" altLang="en-US" sz="1000"/>
          </a:p>
          <a:p>
            <a:pPr lvl="0" algn="ctr">
              <a:defRPr/>
            </a:pPr>
            <a:r>
              <a:rPr lang="en-US" altLang="ko-KR" sz="1000"/>
              <a:t>D</a:t>
            </a:r>
            <a:endParaRPr lang="en-US" altLang="ko-KR" sz="1000"/>
          </a:p>
          <a:p>
            <a:pPr lvl="0" algn="ctr">
              <a:defRPr/>
            </a:pPr>
            <a:r>
              <a:rPr lang="ko-KR" altLang="en-US" sz="1000"/>
              <a:t>ㅡ</a:t>
            </a:r>
            <a:endParaRPr lang="ko-KR" altLang="en-US" sz="1000"/>
          </a:p>
          <a:p>
            <a:pPr lvl="0" algn="ctr">
              <a:defRPr/>
            </a:pPr>
            <a:r>
              <a:rPr lang="en-US" altLang="ko-KR" sz="1000"/>
              <a:t>Co</a:t>
            </a:r>
            <a:endParaRPr lang="en-US" altLang="ko-KR" sz="1000"/>
          </a:p>
        </p:txBody>
      </p:sp>
      <p:cxnSp>
        <p:nvCxnSpPr>
          <p:cNvPr id="23" name="화살표 22"/>
          <p:cNvCxnSpPr>
            <a:endCxn id="22" idx="1"/>
          </p:cNvCxnSpPr>
          <p:nvPr/>
        </p:nvCxnSpPr>
        <p:spPr>
          <a:xfrm>
            <a:off x="9048750" y="4361089"/>
            <a:ext cx="2443228" cy="56606"/>
          </a:xfrm>
          <a:prstGeom prst="straightConnector1">
            <a:avLst/>
          </a:prstGeom>
          <a:ln w="57150">
            <a:solidFill>
              <a:srgbClr val="ffff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8470447" y="4211410"/>
            <a:ext cx="578303" cy="206284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576459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205015" y="204305"/>
            <a:ext cx="4030363" cy="520071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2800"/>
              <a:t>main -&gt; first -&gt; reference</a:t>
            </a:r>
            <a:endParaRPr lang="en-US" altLang="ko-KR" sz="280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rcRect b="88160"/>
          <a:stretch>
            <a:fillRect/>
          </a:stretch>
        </p:blipFill>
        <p:spPr>
          <a:xfrm>
            <a:off x="130777" y="959115"/>
            <a:ext cx="11930444" cy="5679837"/>
          </a:xfrm>
          <a:prstGeom prst="rect">
            <a:avLst/>
          </a:prstGeom>
        </p:spPr>
      </p:pic>
      <p:grpSp>
        <p:nvGrpSpPr>
          <p:cNvPr id="6" name="그룹 5"/>
          <p:cNvGrpSpPr/>
          <p:nvPr/>
        </p:nvGrpSpPr>
        <p:grpSpPr>
          <a:xfrm rot="0">
            <a:off x="4285943" y="1747361"/>
            <a:ext cx="7325896" cy="4891590"/>
            <a:chOff x="5190818" y="1539261"/>
            <a:chExt cx="7325896" cy="4891590"/>
          </a:xfrm>
        </p:grpSpPr>
        <p:sp>
          <p:nvSpPr>
            <p:cNvPr id="7" name="직사각형 8"/>
            <p:cNvSpPr/>
            <p:nvPr/>
          </p:nvSpPr>
          <p:spPr>
            <a:xfrm>
              <a:off x="5796179" y="1539261"/>
              <a:ext cx="6720535" cy="48915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cxnSp>
          <p:nvCxnSpPr>
            <p:cNvPr id="8" name="화살표 9"/>
            <p:cNvCxnSpPr>
              <a:stCxn id="7" idx="1"/>
              <a:endCxn id="9" idx="3"/>
            </p:cNvCxnSpPr>
            <p:nvPr/>
          </p:nvCxnSpPr>
          <p:spPr>
            <a:xfrm rot="16200000" flipV="1">
              <a:off x="4234168" y="2423045"/>
              <a:ext cx="2518662" cy="6053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가로 글상자 8"/>
          <p:cNvSpPr txBox="1"/>
          <p:nvPr/>
        </p:nvSpPr>
        <p:spPr>
          <a:xfrm>
            <a:off x="1401623" y="1251311"/>
            <a:ext cx="2884320" cy="846366"/>
          </a:xfrm>
          <a:prstGeom prst="rect">
            <a:avLst/>
          </a:prstGeom>
          <a:solidFill>
            <a:srgbClr val="ffffff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000"/>
              <a:t>Nyxi</a:t>
            </a:r>
            <a:r>
              <a:rPr lang="ko-KR" altLang="en-US" sz="1000"/>
              <a:t> 캐릭터를 활용함</a:t>
            </a:r>
            <a:endParaRPr lang="ko-KR" altLang="en-US" sz="1000"/>
          </a:p>
          <a:p>
            <a:pPr lvl="0">
              <a:defRPr/>
            </a:pPr>
            <a:endParaRPr lang="ko-KR" altLang="en-US" sz="1000"/>
          </a:p>
          <a:p>
            <a:pPr lvl="0">
              <a:defRPr/>
            </a:pPr>
            <a:r>
              <a:rPr lang="en-US" altLang="ko-KR" sz="1000"/>
              <a:t>PixAI</a:t>
            </a:r>
            <a:r>
              <a:rPr lang="ko-KR" altLang="en-US" sz="1000"/>
              <a:t>를 활용할 예정으로 파일은 나중에 디렉토리에 저장하겠으니 활용 바람</a:t>
            </a:r>
            <a:r>
              <a:rPr lang="en-US" altLang="ko-KR" sz="1000"/>
              <a:t>(</a:t>
            </a:r>
            <a:r>
              <a:rPr lang="ko-KR" altLang="en-US" sz="1000"/>
              <a:t>아래에 있고</a:t>
            </a:r>
            <a:r>
              <a:rPr lang="en-US" altLang="ko-KR" sz="1000"/>
              <a:t>,</a:t>
            </a:r>
            <a:r>
              <a:rPr lang="ko-KR" altLang="en-US" sz="1000"/>
              <a:t> 대신 실제 페이지에서는 투명한 배경으로 삽입할 것</a:t>
            </a:r>
            <a:r>
              <a:rPr lang="en-US" altLang="ko-KR" sz="1000"/>
              <a:t>.)</a:t>
            </a:r>
            <a:endParaRPr lang="en-US" altLang="ko-KR" sz="1000"/>
          </a:p>
        </p:txBody>
      </p:sp>
      <p:grpSp>
        <p:nvGrpSpPr>
          <p:cNvPr id="10" name="그룹 9"/>
          <p:cNvGrpSpPr/>
          <p:nvPr/>
        </p:nvGrpSpPr>
        <p:grpSpPr>
          <a:xfrm rot="0">
            <a:off x="4891304" y="4114600"/>
            <a:ext cx="6625286" cy="2462628"/>
            <a:chOff x="5796179" y="734415"/>
            <a:chExt cx="6625286" cy="2462628"/>
          </a:xfrm>
        </p:grpSpPr>
        <p:sp>
          <p:nvSpPr>
            <p:cNvPr id="11" name="직사각형 8"/>
            <p:cNvSpPr/>
            <p:nvPr/>
          </p:nvSpPr>
          <p:spPr>
            <a:xfrm>
              <a:off x="5796179" y="1377336"/>
              <a:ext cx="6625286" cy="18197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cxnSp>
          <p:nvCxnSpPr>
            <p:cNvPr id="12" name="화살표 9"/>
            <p:cNvCxnSpPr>
              <a:stCxn id="11" idx="0"/>
              <a:endCxn id="13" idx="2"/>
            </p:cNvCxnSpPr>
            <p:nvPr/>
          </p:nvCxnSpPr>
          <p:spPr>
            <a:xfrm rot="16200000" flipV="1">
              <a:off x="8787361" y="1055876"/>
              <a:ext cx="642924" cy="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가로 글상자 12"/>
          <p:cNvSpPr txBox="1"/>
          <p:nvPr/>
        </p:nvSpPr>
        <p:spPr>
          <a:xfrm>
            <a:off x="7035631" y="3573580"/>
            <a:ext cx="2336632" cy="541020"/>
          </a:xfrm>
          <a:prstGeom prst="rect">
            <a:avLst/>
          </a:prstGeom>
          <a:solidFill>
            <a:srgbClr val="ffffff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1000"/>
              <a:t>상술한 카피는 해당 위치로 배치할 것</a:t>
            </a:r>
            <a:r>
              <a:rPr lang="en-US" altLang="ko-KR" sz="1000"/>
              <a:t>.</a:t>
            </a:r>
            <a:endParaRPr lang="en-US" altLang="ko-KR" sz="1000"/>
          </a:p>
          <a:p>
            <a:pPr lvl="0">
              <a:defRPr/>
            </a:pPr>
            <a:endParaRPr lang="en-US" altLang="ko-KR" sz="1000"/>
          </a:p>
          <a:p>
            <a:pPr lvl="0">
              <a:defRPr/>
            </a:pPr>
            <a:r>
              <a:rPr lang="ko-KR" altLang="en-US" sz="1000"/>
              <a:t>오른쪽 정렬으로 할 것</a:t>
            </a:r>
            <a:r>
              <a:rPr lang="en-US" altLang="ko-KR" sz="1000"/>
              <a:t>.</a:t>
            </a:r>
            <a:endParaRPr lang="en-US" altLang="ko-KR" sz="100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456346" y="2245823"/>
            <a:ext cx="2588531" cy="4314219"/>
          </a:xfrm>
          <a:prstGeom prst="rect">
            <a:avLst/>
          </a:prstGeom>
        </p:spPr>
      </p:pic>
      <p:sp>
        <p:nvSpPr>
          <p:cNvPr id="15" name="가로 글상자 14"/>
          <p:cNvSpPr txBox="1"/>
          <p:nvPr/>
        </p:nvSpPr>
        <p:spPr>
          <a:xfrm>
            <a:off x="3920815" y="299148"/>
            <a:ext cx="7779607" cy="822897"/>
          </a:xfrm>
          <a:prstGeom prst="rect">
            <a:avLst/>
          </a:prstGeom>
          <a:solidFill>
            <a:srgbClr val="ffffff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1600"/>
              <a:t>전체적인 색감 </a:t>
            </a:r>
            <a:r>
              <a:rPr lang="en-US" altLang="ko-KR" sz="1600"/>
              <a:t>:</a:t>
            </a:r>
            <a:r>
              <a:rPr lang="ko-KR" altLang="en-US" sz="1600"/>
              <a:t>  </a:t>
            </a:r>
            <a:r>
              <a:rPr lang="en-US" altLang="ko-KR" sz="1600"/>
              <a:t>Black And White</a:t>
            </a:r>
            <a:r>
              <a:rPr lang="ko-KR" altLang="en-US" sz="1600"/>
              <a:t>가 메인</a:t>
            </a:r>
            <a:r>
              <a:rPr lang="en-US" altLang="ko-KR" sz="1600"/>
              <a:t>,</a:t>
            </a:r>
            <a:r>
              <a:rPr lang="ko-KR" altLang="en-US" sz="1600"/>
              <a:t> </a:t>
            </a:r>
            <a:r>
              <a:rPr lang="en-US" altLang="ko-KR" sz="1600"/>
              <a:t>Violet</a:t>
            </a:r>
            <a:r>
              <a:rPr lang="ko-KR" altLang="en-US" sz="1600"/>
              <a:t>이 포인트를 주는 방식</a:t>
            </a:r>
            <a:endParaRPr lang="ko-KR" altLang="en-US" sz="1600"/>
          </a:p>
          <a:p>
            <a:pPr lvl="0">
              <a:defRPr/>
            </a:pPr>
            <a:endParaRPr lang="ko-KR" altLang="en-US" sz="1600"/>
          </a:p>
          <a:p>
            <a:pPr lvl="0">
              <a:defRPr/>
            </a:pPr>
            <a:r>
              <a:rPr lang="ko-KR" altLang="en-US" sz="1600"/>
              <a:t>캐릭터 주변의 </a:t>
            </a:r>
            <a:r>
              <a:rPr lang="en-US" altLang="ko-KR" sz="1600"/>
              <a:t>(reference</a:t>
            </a:r>
            <a:r>
              <a:rPr lang="ko-KR" altLang="en-US" sz="1600"/>
              <a:t>의 파란 전파</a:t>
            </a:r>
            <a:r>
              <a:rPr lang="en-US" altLang="ko-KR" sz="1600"/>
              <a:t>?</a:t>
            </a:r>
            <a:r>
              <a:rPr lang="ko-KR" altLang="en-US" sz="1600"/>
              <a:t> 이미지 같은</a:t>
            </a:r>
            <a:r>
              <a:rPr lang="en-US" altLang="ko-KR" sz="1600"/>
              <a:t>)</a:t>
            </a:r>
            <a:r>
              <a:rPr lang="ko-KR" altLang="en-US" sz="1600"/>
              <a:t> 장식은 아직 넣지 말것</a:t>
            </a:r>
            <a:r>
              <a:rPr lang="en-US" altLang="ko-KR" sz="1600"/>
              <a:t>.</a:t>
            </a:r>
            <a:endParaRPr lang="en-US" altLang="ko-KR" sz="1600"/>
          </a:p>
        </p:txBody>
      </p:sp>
    </p:spTree>
    <p:extLst>
      <p:ext uri="{BB962C8B-B14F-4D97-AF65-F5344CB8AC3E}">
        <p14:creationId xmlns:p14="http://schemas.microsoft.com/office/powerpoint/2010/main" val="1795092998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199</ep:Words>
  <ep:PresentationFormat>와이드스크린(16:9)</ep:PresentationFormat>
  <ep:Paragraphs>53</ep:Paragraphs>
  <ep:Slides>5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ep:HeadingPairs>
  <ep:TitlesOfParts>
    <vt:vector size="6" baseType="lpstr">
      <vt:lpstr>한컴오피스</vt:lpstr>
      <vt:lpstr>슬라이드 1</vt:lpstr>
      <vt:lpstr>슬라이드 2</vt:lpstr>
      <vt:lpstr>슬라이드 3</vt:lpstr>
      <vt:lpstr>슬라이드 4</vt:lpstr>
      <vt:lpstr>슬라이드 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2026-10-01T23:22:39.563</dcterms:created>
  <dc:creator>User</dc:creator>
  <cp:lastModifiedBy>User</cp:lastModifiedBy>
  <dcterms:modified xsi:type="dcterms:W3CDTF">2026-10-02T01:15:48.442</dcterms:modified>
  <cp:revision>15</cp:revision>
  <cp:version>13.0.0.711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